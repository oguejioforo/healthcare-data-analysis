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1" r:id="rId4"/>
    <p:sldId id="259" r:id="rId5"/>
    <p:sldId id="263" r:id="rId6"/>
    <p:sldId id="262" r:id="rId7"/>
    <p:sldId id="260" r:id="rId8"/>
    <p:sldId id="267" r:id="rId9"/>
    <p:sldId id="271" r:id="rId10"/>
    <p:sldId id="270" r:id="rId11"/>
    <p:sldId id="269" r:id="rId12"/>
    <p:sldId id="278" r:id="rId13"/>
    <p:sldId id="276" r:id="rId14"/>
    <p:sldId id="272" r:id="rId15"/>
    <p:sldId id="277" r:id="rId16"/>
    <p:sldId id="279" r:id="rId17"/>
    <p:sldId id="268" r:id="rId18"/>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E4E0"/>
    <a:srgbClr val="336666"/>
    <a:srgbClr val="444444"/>
    <a:srgbClr val="1A1A1A"/>
    <a:srgbClr val="009592"/>
    <a:srgbClr val="002B2B"/>
    <a:srgbClr val="00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36" autoAdjust="0"/>
    <p:restoredTop sz="94660"/>
  </p:normalViewPr>
  <p:slideViewPr>
    <p:cSldViewPr snapToGrid="0">
      <p:cViewPr varScale="1">
        <p:scale>
          <a:sx n="106" d="100"/>
          <a:sy n="106" d="100"/>
        </p:scale>
        <p:origin x="900"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04BAA-C996-D623-5787-48039E961C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DB503561-CD3C-F265-745C-5B6E16361A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F2F6C4E2-72E0-7A43-25E6-4B69A552CB4F}"/>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5" name="Footer Placeholder 4">
            <a:extLst>
              <a:ext uri="{FF2B5EF4-FFF2-40B4-BE49-F238E27FC236}">
                <a16:creationId xmlns:a16="http://schemas.microsoft.com/office/drawing/2014/main" id="{0BC60861-7E50-98A0-398F-9148CDF537E7}"/>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079B15E9-E1D6-9DC9-3ED4-FF823A75E487}"/>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810471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0E963-D08A-6F7E-E20A-27333EE2C96F}"/>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89C62662-7C48-CBC7-2631-F6C401AD6C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EA98479C-F0E9-1721-073F-70AF5AC6735E}"/>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5" name="Footer Placeholder 4">
            <a:extLst>
              <a:ext uri="{FF2B5EF4-FFF2-40B4-BE49-F238E27FC236}">
                <a16:creationId xmlns:a16="http://schemas.microsoft.com/office/drawing/2014/main" id="{43130175-9412-E713-06C2-60CC4AC32B73}"/>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D750F391-F51B-A93B-8C9D-76F450FED4EE}"/>
              </a:ext>
            </a:extLst>
          </p:cNvPr>
          <p:cNvSpPr>
            <a:spLocks noGrp="1"/>
          </p:cNvSpPr>
          <p:nvPr>
            <p:ph type="sldNum" sz="quarter" idx="12"/>
          </p:nvPr>
        </p:nvSpPr>
        <p:spPr/>
        <p:txBody>
          <a:bodyPr/>
          <a:lstStyle/>
          <a:p>
            <a:fld id="{9AE54584-53E7-401D-85FD-7C5DADABF9B4}" type="slidenum">
              <a:rPr lang="en-NG" smtClean="0"/>
              <a:t>‹#›</a:t>
            </a:fld>
            <a:endParaRPr lang="en-NG"/>
          </a:p>
        </p:txBody>
      </p:sp>
      <p:pic>
        <p:nvPicPr>
          <p:cNvPr id="8" name="Picture 7">
            <a:extLst>
              <a:ext uri="{FF2B5EF4-FFF2-40B4-BE49-F238E27FC236}">
                <a16:creationId xmlns:a16="http://schemas.microsoft.com/office/drawing/2014/main" id="{90ADA08B-DECD-CFAF-0337-2DDEFA8D5977}"/>
              </a:ext>
            </a:extLst>
          </p:cNvPr>
          <p:cNvPicPr>
            <a:picLocks noChangeAspect="1"/>
          </p:cNvPicPr>
          <p:nvPr userDrawn="1"/>
        </p:nvPicPr>
        <p:blipFill>
          <a:blip r:embed="rId2"/>
          <a:stretch>
            <a:fillRect/>
          </a:stretch>
        </p:blipFill>
        <p:spPr>
          <a:xfrm>
            <a:off x="10548644" y="6372927"/>
            <a:ext cx="805156" cy="348548"/>
          </a:xfrm>
          <a:prstGeom prst="rect">
            <a:avLst/>
          </a:prstGeom>
        </p:spPr>
      </p:pic>
    </p:spTree>
    <p:extLst>
      <p:ext uri="{BB962C8B-B14F-4D97-AF65-F5344CB8AC3E}">
        <p14:creationId xmlns:p14="http://schemas.microsoft.com/office/powerpoint/2010/main" val="38497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91A2F-9D7C-C844-B4A3-1D87610E1C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6F27F102-DFBF-D7A7-27D8-D82C9793A4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C893B7-E3B9-1A6F-D5D6-6BD9002796FB}"/>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5" name="Footer Placeholder 4">
            <a:extLst>
              <a:ext uri="{FF2B5EF4-FFF2-40B4-BE49-F238E27FC236}">
                <a16:creationId xmlns:a16="http://schemas.microsoft.com/office/drawing/2014/main" id="{635E5FFD-87D2-AAB2-0B80-84574C01153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11CB84B1-71F0-1C6A-7390-AE283DF53FA1}"/>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2673192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82F9D-0B48-E4B2-6FA6-0DEE0F24DED8}"/>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8B167598-0CD9-4950-A639-BAF7243654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A034ED35-63D4-0BB5-5F26-EC1C32E188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FDF7F344-E626-8492-722B-A1FA05C1B087}"/>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6" name="Footer Placeholder 5">
            <a:extLst>
              <a:ext uri="{FF2B5EF4-FFF2-40B4-BE49-F238E27FC236}">
                <a16:creationId xmlns:a16="http://schemas.microsoft.com/office/drawing/2014/main" id="{760BCF0F-E2FE-B6A9-12F7-53F435BC0F3B}"/>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01214256-15CB-DFCC-F135-418EE4C13F3C}"/>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109023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55F8D-C5C0-631F-A818-69F95C150BC0}"/>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EB5B445F-7031-8D88-A04A-31CB490FD3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918A5C-D850-AE66-172D-9C44587B5C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F2A2284F-4D91-17B6-FB20-04F7C4D26B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B00645-F4A7-C9AA-4FC2-136AC3E043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CDBC9726-3EAA-2BD6-DA71-8AF9FF6DE18A}"/>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8" name="Footer Placeholder 7">
            <a:extLst>
              <a:ext uri="{FF2B5EF4-FFF2-40B4-BE49-F238E27FC236}">
                <a16:creationId xmlns:a16="http://schemas.microsoft.com/office/drawing/2014/main" id="{F3C19982-62D3-9C68-50B7-869620976A81}"/>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43E373F2-46A4-CF34-1D06-007ABC048F67}"/>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2844113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9AB41-8A57-4400-A244-9D1CBD1A63D0}"/>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EA1A692A-8150-3F72-59B7-2D97E59B8B78}"/>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4" name="Footer Placeholder 3">
            <a:extLst>
              <a:ext uri="{FF2B5EF4-FFF2-40B4-BE49-F238E27FC236}">
                <a16:creationId xmlns:a16="http://schemas.microsoft.com/office/drawing/2014/main" id="{53BF0684-FC02-2E5B-2829-FE11C2FC7686}"/>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85E4F516-573E-6E33-E3C7-A250B3BC3279}"/>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290114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2537D7-1CDB-C01E-60A5-F45B43CC38E1}"/>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3" name="Footer Placeholder 2">
            <a:extLst>
              <a:ext uri="{FF2B5EF4-FFF2-40B4-BE49-F238E27FC236}">
                <a16:creationId xmlns:a16="http://schemas.microsoft.com/office/drawing/2014/main" id="{C5A262C9-F54D-61BD-120D-FF038E0F171A}"/>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196F9EED-C20D-5634-103F-BF68DCD2DB3D}"/>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1840906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D5AC8-5FD6-B8EB-F6D6-E309D89A6C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95745626-A75A-ECCB-AC29-CB28064CD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4FD39D8D-03C2-5716-A7C6-193193A02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7C9D8A-7EA2-0C83-0540-6FCFF0265B63}"/>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6" name="Footer Placeholder 5">
            <a:extLst>
              <a:ext uri="{FF2B5EF4-FFF2-40B4-BE49-F238E27FC236}">
                <a16:creationId xmlns:a16="http://schemas.microsoft.com/office/drawing/2014/main" id="{65A5AB37-A38B-98A1-AA1D-CA67D7BFC921}"/>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38FAD4E3-F479-0BB4-75B6-4248ABBA41FD}"/>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580374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615CF-09BF-CDFA-0E82-5E87E55D26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F970717B-6BC5-A0E7-341E-7B033945CD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7F6459C0-231C-5BAF-DC1F-382D3D4F0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FF8B2-B899-6956-B2E3-777CA15656F7}"/>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6" name="Footer Placeholder 5">
            <a:extLst>
              <a:ext uri="{FF2B5EF4-FFF2-40B4-BE49-F238E27FC236}">
                <a16:creationId xmlns:a16="http://schemas.microsoft.com/office/drawing/2014/main" id="{59817E97-6092-DD22-CD52-C77A32A4A604}"/>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CCE0A6F9-314A-3311-AB2F-30E7292858EE}"/>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4282752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32257-B461-6DB8-8F7D-14AC0E439F7B}"/>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EFEC112D-0BB5-A74F-DEC5-8AF8BE3F74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24C19436-5D36-C563-C695-1AE037EFC146}"/>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5" name="Footer Placeholder 4">
            <a:extLst>
              <a:ext uri="{FF2B5EF4-FFF2-40B4-BE49-F238E27FC236}">
                <a16:creationId xmlns:a16="http://schemas.microsoft.com/office/drawing/2014/main" id="{1C03783A-3B35-BB81-528C-A2517457FA3E}"/>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735D29C4-00E8-9258-A740-8772F515E652}"/>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4050140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43E98E-DDCC-2F2A-5D10-E203A26076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0BEB9C07-0ADB-0238-FF54-66D6A39FE3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406AB910-8B3F-95DB-1282-A0CD8AB44455}"/>
              </a:ext>
            </a:extLst>
          </p:cNvPr>
          <p:cNvSpPr>
            <a:spLocks noGrp="1"/>
          </p:cNvSpPr>
          <p:nvPr>
            <p:ph type="dt" sz="half" idx="10"/>
          </p:nvPr>
        </p:nvSpPr>
        <p:spPr/>
        <p:txBody>
          <a:bodyPr/>
          <a:lstStyle/>
          <a:p>
            <a:fld id="{BF6A657D-251A-4C29-A352-91623BCAED8F}" type="datetimeFigureOut">
              <a:rPr lang="en-NG" smtClean="0"/>
              <a:t>04/08/2025</a:t>
            </a:fld>
            <a:endParaRPr lang="en-NG"/>
          </a:p>
        </p:txBody>
      </p:sp>
      <p:sp>
        <p:nvSpPr>
          <p:cNvPr id="5" name="Footer Placeholder 4">
            <a:extLst>
              <a:ext uri="{FF2B5EF4-FFF2-40B4-BE49-F238E27FC236}">
                <a16:creationId xmlns:a16="http://schemas.microsoft.com/office/drawing/2014/main" id="{5904BF8D-55CD-15A8-A2A4-364F7980E4DA}"/>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114DF528-1AB8-717D-C8E1-0EB3B521ADD5}"/>
              </a:ext>
            </a:extLst>
          </p:cNvPr>
          <p:cNvSpPr>
            <a:spLocks noGrp="1"/>
          </p:cNvSpPr>
          <p:nvPr>
            <p:ph type="sldNum" sz="quarter" idx="12"/>
          </p:nvPr>
        </p:nvSpPr>
        <p:spPr/>
        <p:txBody>
          <a:bodyPr/>
          <a:lstStyle/>
          <a:p>
            <a:fld id="{9AE54584-53E7-401D-85FD-7C5DADABF9B4}" type="slidenum">
              <a:rPr lang="en-NG" smtClean="0"/>
              <a:t>‹#›</a:t>
            </a:fld>
            <a:endParaRPr lang="en-NG"/>
          </a:p>
        </p:txBody>
      </p:sp>
    </p:spTree>
    <p:extLst>
      <p:ext uri="{BB962C8B-B14F-4D97-AF65-F5344CB8AC3E}">
        <p14:creationId xmlns:p14="http://schemas.microsoft.com/office/powerpoint/2010/main" val="3123913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FB4D99-14FE-A148-2903-EBD4F35DB0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C3A5B16B-99B5-C0D9-DD5C-AE4F79A89D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81FDEA92-26C3-27BE-E54F-3B044E6A7B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6A657D-251A-4C29-A352-91623BCAED8F}" type="datetimeFigureOut">
              <a:rPr lang="en-NG" smtClean="0"/>
              <a:t>04/08/2025</a:t>
            </a:fld>
            <a:endParaRPr lang="en-NG"/>
          </a:p>
        </p:txBody>
      </p:sp>
      <p:sp>
        <p:nvSpPr>
          <p:cNvPr id="5" name="Footer Placeholder 4">
            <a:extLst>
              <a:ext uri="{FF2B5EF4-FFF2-40B4-BE49-F238E27FC236}">
                <a16:creationId xmlns:a16="http://schemas.microsoft.com/office/drawing/2014/main" id="{644DC9E3-8776-B702-D2F0-9DDD89B0F0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G"/>
          </a:p>
        </p:txBody>
      </p:sp>
      <p:sp>
        <p:nvSpPr>
          <p:cNvPr id="6" name="Slide Number Placeholder 5">
            <a:extLst>
              <a:ext uri="{FF2B5EF4-FFF2-40B4-BE49-F238E27FC236}">
                <a16:creationId xmlns:a16="http://schemas.microsoft.com/office/drawing/2014/main" id="{B19B286D-660A-7442-B6BC-843E76BDDB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E54584-53E7-401D-85FD-7C5DADABF9B4}" type="slidenum">
              <a:rPr lang="en-NG" smtClean="0"/>
              <a:t>‹#›</a:t>
            </a:fld>
            <a:endParaRPr lang="en-NG"/>
          </a:p>
        </p:txBody>
      </p:sp>
    </p:spTree>
    <p:extLst>
      <p:ext uri="{BB962C8B-B14F-4D97-AF65-F5344CB8AC3E}">
        <p14:creationId xmlns:p14="http://schemas.microsoft.com/office/powerpoint/2010/main" val="1087924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20F37BD-E69A-DC34-FD16-6DB95B581EC8}"/>
              </a:ext>
            </a:extLst>
          </p:cNvPr>
          <p:cNvPicPr>
            <a:picLocks noGrp="1" noChangeAspect="1"/>
          </p:cNvPicPr>
          <p:nvPr>
            <p:ph idx="1"/>
          </p:nvPr>
        </p:nvPicPr>
        <p:blipFill>
          <a:blip r:embed="rId2">
            <a:alphaModFix amt="70000"/>
            <a:extLst>
              <a:ext uri="{28A0092B-C50C-407E-A947-70E740481C1C}">
                <a14:useLocalDpi xmlns:a14="http://schemas.microsoft.com/office/drawing/2010/main" val="0"/>
              </a:ext>
            </a:extLst>
          </a:blip>
          <a:stretch>
            <a:fillRect/>
          </a:stretch>
        </p:blipFill>
        <p:spPr>
          <a:xfrm>
            <a:off x="0" y="-99589"/>
            <a:ext cx="12192000" cy="6343649"/>
          </a:xfrm>
        </p:spPr>
      </p:pic>
      <p:sp>
        <p:nvSpPr>
          <p:cNvPr id="2" name="Title 1">
            <a:extLst>
              <a:ext uri="{FF2B5EF4-FFF2-40B4-BE49-F238E27FC236}">
                <a16:creationId xmlns:a16="http://schemas.microsoft.com/office/drawing/2014/main" id="{30511F2E-6E4D-1A4C-5191-86DC80CF8C16}"/>
              </a:ext>
            </a:extLst>
          </p:cNvPr>
          <p:cNvSpPr>
            <a:spLocks noGrp="1"/>
          </p:cNvSpPr>
          <p:nvPr>
            <p:ph type="title"/>
          </p:nvPr>
        </p:nvSpPr>
        <p:spPr>
          <a:xfrm>
            <a:off x="494167" y="1270473"/>
            <a:ext cx="10515600" cy="1228285"/>
          </a:xfrm>
        </p:spPr>
        <p:txBody>
          <a:bodyPr>
            <a:normAutofit/>
          </a:bodyPr>
          <a:lstStyle/>
          <a:p>
            <a:r>
              <a:rPr lang="en-US" sz="4000" dirty="0">
                <a:solidFill>
                  <a:srgbClr val="444444"/>
                </a:solidFill>
                <a:latin typeface="Maiandra GD" panose="020E0502030308020204" pitchFamily="34" charset="0"/>
              </a:rPr>
              <a:t>HEALTHCARE</a:t>
            </a:r>
            <a:r>
              <a:rPr lang="en-US" sz="4000" dirty="0">
                <a:solidFill>
                  <a:srgbClr val="336666"/>
                </a:solidFill>
                <a:latin typeface="Maiandra GD" panose="020E0502030308020204" pitchFamily="34" charset="0"/>
              </a:rPr>
              <a:t> DATA ANALYSIS</a:t>
            </a:r>
            <a:endParaRPr lang="en-NG" sz="4000" dirty="0">
              <a:solidFill>
                <a:srgbClr val="336666"/>
              </a:solidFill>
              <a:latin typeface="Maiandra GD" panose="020E0502030308020204" pitchFamily="34" charset="0"/>
            </a:endParaRPr>
          </a:p>
        </p:txBody>
      </p:sp>
      <p:sp>
        <p:nvSpPr>
          <p:cNvPr id="6" name="TextBox 5">
            <a:extLst>
              <a:ext uri="{FF2B5EF4-FFF2-40B4-BE49-F238E27FC236}">
                <a16:creationId xmlns:a16="http://schemas.microsoft.com/office/drawing/2014/main" id="{13803EDB-153F-9A3B-29E1-91D9E7E09C76}"/>
              </a:ext>
            </a:extLst>
          </p:cNvPr>
          <p:cNvSpPr txBox="1"/>
          <p:nvPr/>
        </p:nvSpPr>
        <p:spPr>
          <a:xfrm>
            <a:off x="706170" y="4445251"/>
            <a:ext cx="7813141" cy="1200329"/>
          </a:xfrm>
          <a:prstGeom prst="rect">
            <a:avLst/>
          </a:prstGeom>
          <a:noFill/>
        </p:spPr>
        <p:txBody>
          <a:bodyPr wrap="square" rtlCol="0">
            <a:spAutoFit/>
          </a:bodyPr>
          <a:lstStyle/>
          <a:p>
            <a:r>
              <a:rPr lang="en-US" dirty="0">
                <a:solidFill>
                  <a:srgbClr val="336666"/>
                </a:solidFill>
                <a:latin typeface="Arial Rounded MT Bold" panose="020F0704030504030204" pitchFamily="34" charset="0"/>
              </a:rPr>
              <a:t>Presented by: </a:t>
            </a:r>
          </a:p>
          <a:p>
            <a:r>
              <a:rPr lang="en-US" dirty="0">
                <a:solidFill>
                  <a:srgbClr val="336666"/>
                </a:solidFill>
                <a:latin typeface="Arial Rounded MT Bold" panose="020F0704030504030204" pitchFamily="34" charset="0"/>
              </a:rPr>
              <a:t>Power BI Team</a:t>
            </a:r>
          </a:p>
          <a:p>
            <a:r>
              <a:rPr lang="en-US" dirty="0">
                <a:solidFill>
                  <a:srgbClr val="336666"/>
                </a:solidFill>
                <a:latin typeface="Maiandra GD" panose="020E0502030308020204" pitchFamily="34" charset="0"/>
              </a:rPr>
              <a:t>David B., Onyinye O., Judith C., Michael O.,                                      </a:t>
            </a:r>
            <a:r>
              <a:rPr lang="en-US" dirty="0" err="1">
                <a:solidFill>
                  <a:srgbClr val="336666"/>
                </a:solidFill>
                <a:latin typeface="Maiandra GD" panose="020E0502030308020204" pitchFamily="34" charset="0"/>
              </a:rPr>
              <a:t>Amidat</a:t>
            </a:r>
            <a:r>
              <a:rPr lang="en-US" dirty="0">
                <a:solidFill>
                  <a:srgbClr val="336666"/>
                </a:solidFill>
                <a:latin typeface="Maiandra GD" panose="020E0502030308020204" pitchFamily="34" charset="0"/>
              </a:rPr>
              <a:t> M., Comfort D., </a:t>
            </a:r>
            <a:r>
              <a:rPr lang="en-US" dirty="0" err="1">
                <a:solidFill>
                  <a:srgbClr val="336666"/>
                </a:solidFill>
                <a:latin typeface="Maiandra GD" panose="020E0502030308020204" pitchFamily="34" charset="0"/>
              </a:rPr>
              <a:t>Omoniyi</a:t>
            </a:r>
            <a:r>
              <a:rPr lang="en-US" dirty="0">
                <a:solidFill>
                  <a:srgbClr val="336666"/>
                </a:solidFill>
                <a:latin typeface="Maiandra GD" panose="020E0502030308020204" pitchFamily="34" charset="0"/>
              </a:rPr>
              <a:t> F.,  Philip C.</a:t>
            </a:r>
            <a:endParaRPr lang="en-NG" dirty="0">
              <a:solidFill>
                <a:srgbClr val="336666"/>
              </a:solidFill>
              <a:latin typeface="Maiandra GD" panose="020E0502030308020204" pitchFamily="34" charset="0"/>
            </a:endParaRPr>
          </a:p>
        </p:txBody>
      </p:sp>
    </p:spTree>
    <p:extLst>
      <p:ext uri="{BB962C8B-B14F-4D97-AF65-F5344CB8AC3E}">
        <p14:creationId xmlns:p14="http://schemas.microsoft.com/office/powerpoint/2010/main" val="2453911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14F9D0-0B03-8516-A289-E078B5C5F674}"/>
              </a:ext>
            </a:extLst>
          </p:cNvPr>
          <p:cNvPicPr>
            <a:picLocks noGrp="1" noChangeAspect="1"/>
          </p:cNvPicPr>
          <p:nvPr>
            <p:ph idx="1"/>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341350"/>
          </a:xfrm>
        </p:spPr>
      </p:pic>
      <p:sp>
        <p:nvSpPr>
          <p:cNvPr id="2" name="Title 1">
            <a:extLst>
              <a:ext uri="{FF2B5EF4-FFF2-40B4-BE49-F238E27FC236}">
                <a16:creationId xmlns:a16="http://schemas.microsoft.com/office/drawing/2014/main" id="{264491EB-111D-25D8-F3BB-B7D60C43371C}"/>
              </a:ext>
            </a:extLst>
          </p:cNvPr>
          <p:cNvSpPr>
            <a:spLocks noGrp="1"/>
          </p:cNvSpPr>
          <p:nvPr>
            <p:ph type="title"/>
          </p:nvPr>
        </p:nvSpPr>
        <p:spPr>
          <a:xfrm>
            <a:off x="4577281" y="410392"/>
            <a:ext cx="5028446" cy="1056269"/>
          </a:xfrm>
        </p:spPr>
        <p:txBody>
          <a:bodyPr>
            <a:normAutofit/>
          </a:bodyPr>
          <a:lstStyle/>
          <a:p>
            <a:r>
              <a:rPr lang="en-US" sz="4000" dirty="0">
                <a:solidFill>
                  <a:srgbClr val="336666"/>
                </a:solidFill>
                <a:latin typeface="Maiandra GD" panose="020E0502030308020204" pitchFamily="34" charset="0"/>
              </a:rPr>
              <a:t>Table of Content</a:t>
            </a:r>
            <a:endParaRPr lang="en-NG" sz="4000" dirty="0">
              <a:solidFill>
                <a:srgbClr val="336666"/>
              </a:solidFill>
            </a:endParaRPr>
          </a:p>
        </p:txBody>
      </p:sp>
      <p:sp>
        <p:nvSpPr>
          <p:cNvPr id="7" name="TextBox 6">
            <a:extLst>
              <a:ext uri="{FF2B5EF4-FFF2-40B4-BE49-F238E27FC236}">
                <a16:creationId xmlns:a16="http://schemas.microsoft.com/office/drawing/2014/main" id="{177BD7A0-1D38-B80C-1345-B28885A28DDE}"/>
              </a:ext>
            </a:extLst>
          </p:cNvPr>
          <p:cNvSpPr txBox="1"/>
          <p:nvPr/>
        </p:nvSpPr>
        <p:spPr>
          <a:xfrm>
            <a:off x="4898677" y="1175161"/>
            <a:ext cx="7623018" cy="4185761"/>
          </a:xfrm>
          <a:prstGeom prst="rect">
            <a:avLst/>
          </a:prstGeom>
          <a:noFill/>
        </p:spPr>
        <p:txBody>
          <a:bodyPr wrap="square" rtlCol="0">
            <a:spAutoFit/>
          </a:bodyPr>
          <a:lstStyle/>
          <a:p>
            <a:pPr>
              <a:lnSpc>
                <a:spcPct val="200000"/>
              </a:lnSpc>
            </a:pPr>
            <a:endParaRPr lang="en-US" sz="1400" dirty="0">
              <a:solidFill>
                <a:srgbClr val="336666"/>
              </a:solidFill>
              <a:latin typeface="Arial Rounded MT Bold" panose="020F0704030504030204" pitchFamily="34" charset="0"/>
            </a:endParaRPr>
          </a:p>
          <a:p>
            <a:pPr>
              <a:lnSpc>
                <a:spcPct val="200000"/>
              </a:lnSpc>
            </a:pPr>
            <a:r>
              <a:rPr lang="en-US" sz="1400" dirty="0">
                <a:solidFill>
                  <a:srgbClr val="336666"/>
                </a:solidFill>
                <a:latin typeface="Arial Rounded MT Bold" panose="020F0704030504030204" pitchFamily="34" charset="0"/>
              </a:rPr>
              <a:t>Introduction </a:t>
            </a:r>
          </a:p>
          <a:p>
            <a:pPr>
              <a:lnSpc>
                <a:spcPct val="200000"/>
              </a:lnSpc>
            </a:pPr>
            <a:r>
              <a:rPr lang="en-US" sz="1400" dirty="0">
                <a:solidFill>
                  <a:srgbClr val="336666"/>
                </a:solidFill>
                <a:latin typeface="Arial Rounded MT Bold" panose="020F0704030504030204" pitchFamily="34" charset="0"/>
              </a:rPr>
              <a:t>Objective &amp; Business Question</a:t>
            </a:r>
          </a:p>
          <a:p>
            <a:pPr>
              <a:lnSpc>
                <a:spcPct val="200000"/>
              </a:lnSpc>
            </a:pPr>
            <a:r>
              <a:rPr lang="en-US" sz="1400" dirty="0">
                <a:solidFill>
                  <a:srgbClr val="336666"/>
                </a:solidFill>
                <a:latin typeface="Arial Rounded MT Bold" panose="020F0704030504030204" pitchFamily="34" charset="0"/>
              </a:rPr>
              <a:t>Data transformation &amp; cleaning</a:t>
            </a:r>
          </a:p>
          <a:p>
            <a:pPr>
              <a:lnSpc>
                <a:spcPct val="200000"/>
              </a:lnSpc>
            </a:pPr>
            <a:r>
              <a:rPr lang="en-US" sz="1400" dirty="0">
                <a:solidFill>
                  <a:srgbClr val="336666"/>
                </a:solidFill>
                <a:latin typeface="Arial Rounded MT Bold" panose="020F0704030504030204" pitchFamily="34" charset="0"/>
              </a:rPr>
              <a:t>Data Modelling</a:t>
            </a:r>
          </a:p>
          <a:p>
            <a:pPr>
              <a:lnSpc>
                <a:spcPct val="200000"/>
              </a:lnSpc>
            </a:pPr>
            <a:r>
              <a:rPr lang="en-US" sz="1400" dirty="0">
                <a:solidFill>
                  <a:srgbClr val="336666"/>
                </a:solidFill>
                <a:latin typeface="Arial Rounded MT Bold" panose="020F0704030504030204" pitchFamily="34" charset="0"/>
              </a:rPr>
              <a:t>Dashboard Overview</a:t>
            </a:r>
          </a:p>
          <a:p>
            <a:pPr>
              <a:lnSpc>
                <a:spcPct val="200000"/>
              </a:lnSpc>
            </a:pPr>
            <a:r>
              <a:rPr lang="en-US" sz="1400" dirty="0">
                <a:solidFill>
                  <a:srgbClr val="336666"/>
                </a:solidFill>
                <a:latin typeface="Arial Rounded MT Bold" panose="020F0704030504030204" pitchFamily="34" charset="0"/>
              </a:rPr>
              <a:t>Analysis and visualization</a:t>
            </a:r>
          </a:p>
          <a:p>
            <a:pPr>
              <a:lnSpc>
                <a:spcPct val="200000"/>
              </a:lnSpc>
            </a:pPr>
            <a:r>
              <a:rPr lang="en-US" sz="1400" dirty="0">
                <a:solidFill>
                  <a:srgbClr val="336666"/>
                </a:solidFill>
                <a:latin typeface="Arial Rounded MT Bold" panose="020F0704030504030204" pitchFamily="34" charset="0"/>
              </a:rPr>
              <a:t>Recommendation</a:t>
            </a:r>
          </a:p>
          <a:p>
            <a:pPr>
              <a:lnSpc>
                <a:spcPct val="200000"/>
              </a:lnSpc>
            </a:pPr>
            <a:r>
              <a:rPr lang="en-US" sz="1400" dirty="0">
                <a:solidFill>
                  <a:srgbClr val="336666"/>
                </a:solidFill>
                <a:latin typeface="Arial Rounded MT Bold" panose="020F0704030504030204" pitchFamily="34" charset="0"/>
              </a:rPr>
              <a:t>Conclusion</a:t>
            </a:r>
          </a:p>
          <a:p>
            <a:endParaRPr lang="en-NG" sz="1400" dirty="0"/>
          </a:p>
        </p:txBody>
      </p:sp>
      <p:cxnSp>
        <p:nvCxnSpPr>
          <p:cNvPr id="9" name="Straight Arrow Connector 8">
            <a:extLst>
              <a:ext uri="{FF2B5EF4-FFF2-40B4-BE49-F238E27FC236}">
                <a16:creationId xmlns:a16="http://schemas.microsoft.com/office/drawing/2014/main" id="{540D6FDB-80FC-D79A-6700-F20F670D7782}"/>
              </a:ext>
            </a:extLst>
          </p:cNvPr>
          <p:cNvCxnSpPr>
            <a:cxnSpLocks/>
          </p:cNvCxnSpPr>
          <p:nvPr/>
        </p:nvCxnSpPr>
        <p:spPr>
          <a:xfrm>
            <a:off x="4469016" y="1862253"/>
            <a:ext cx="216530" cy="0"/>
          </a:xfrm>
          <a:prstGeom prst="straightConnector1">
            <a:avLst/>
          </a:prstGeom>
          <a:ln>
            <a:solidFill>
              <a:srgbClr val="33666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0A1B798-F6B5-DAB6-EFAE-E978DBE40142}"/>
              </a:ext>
            </a:extLst>
          </p:cNvPr>
          <p:cNvCxnSpPr>
            <a:cxnSpLocks/>
          </p:cNvCxnSpPr>
          <p:nvPr/>
        </p:nvCxnSpPr>
        <p:spPr>
          <a:xfrm>
            <a:off x="4482971" y="2339329"/>
            <a:ext cx="216530" cy="0"/>
          </a:xfrm>
          <a:prstGeom prst="straightConnector1">
            <a:avLst/>
          </a:prstGeom>
          <a:ln>
            <a:solidFill>
              <a:srgbClr val="33666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3469675-1BCA-6C6B-3CF1-B1E8BBE10676}"/>
              </a:ext>
            </a:extLst>
          </p:cNvPr>
          <p:cNvCxnSpPr>
            <a:cxnSpLocks/>
          </p:cNvCxnSpPr>
          <p:nvPr/>
        </p:nvCxnSpPr>
        <p:spPr>
          <a:xfrm>
            <a:off x="4482971" y="2738199"/>
            <a:ext cx="216530" cy="0"/>
          </a:xfrm>
          <a:prstGeom prst="straightConnector1">
            <a:avLst/>
          </a:prstGeom>
          <a:ln>
            <a:solidFill>
              <a:srgbClr val="336666"/>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10D546F-9CB4-D3B0-6D27-78FD477F11EF}"/>
              </a:ext>
            </a:extLst>
          </p:cNvPr>
          <p:cNvCxnSpPr>
            <a:cxnSpLocks/>
          </p:cNvCxnSpPr>
          <p:nvPr/>
        </p:nvCxnSpPr>
        <p:spPr>
          <a:xfrm>
            <a:off x="4482971" y="3196132"/>
            <a:ext cx="216530" cy="0"/>
          </a:xfrm>
          <a:prstGeom prst="straightConnector1">
            <a:avLst/>
          </a:prstGeom>
          <a:ln>
            <a:solidFill>
              <a:srgbClr val="336666"/>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39C3482-F4A0-307D-ADAE-4F2CE4F3C428}"/>
              </a:ext>
            </a:extLst>
          </p:cNvPr>
          <p:cNvCxnSpPr>
            <a:cxnSpLocks/>
          </p:cNvCxnSpPr>
          <p:nvPr/>
        </p:nvCxnSpPr>
        <p:spPr>
          <a:xfrm>
            <a:off x="4502589" y="4887621"/>
            <a:ext cx="216530" cy="0"/>
          </a:xfrm>
          <a:prstGeom prst="straightConnector1">
            <a:avLst/>
          </a:prstGeom>
          <a:ln>
            <a:solidFill>
              <a:srgbClr val="33666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63638FC-4748-D568-2FD4-D1F65FDE299D}"/>
              </a:ext>
            </a:extLst>
          </p:cNvPr>
          <p:cNvCxnSpPr>
            <a:cxnSpLocks/>
          </p:cNvCxnSpPr>
          <p:nvPr/>
        </p:nvCxnSpPr>
        <p:spPr>
          <a:xfrm>
            <a:off x="4482971" y="4014220"/>
            <a:ext cx="216530" cy="0"/>
          </a:xfrm>
          <a:prstGeom prst="straightConnector1">
            <a:avLst/>
          </a:prstGeom>
          <a:ln>
            <a:solidFill>
              <a:srgbClr val="33666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181DCEC-127E-5253-3FA3-B105D82E5337}"/>
              </a:ext>
            </a:extLst>
          </p:cNvPr>
          <p:cNvCxnSpPr>
            <a:cxnSpLocks/>
          </p:cNvCxnSpPr>
          <p:nvPr/>
        </p:nvCxnSpPr>
        <p:spPr>
          <a:xfrm>
            <a:off x="4482971" y="3589958"/>
            <a:ext cx="216530" cy="0"/>
          </a:xfrm>
          <a:prstGeom prst="straightConnector1">
            <a:avLst/>
          </a:prstGeom>
          <a:ln>
            <a:solidFill>
              <a:srgbClr val="33666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DEE721D-6163-2CF0-3048-7C12E3559086}"/>
              </a:ext>
            </a:extLst>
          </p:cNvPr>
          <p:cNvCxnSpPr>
            <a:cxnSpLocks/>
          </p:cNvCxnSpPr>
          <p:nvPr/>
        </p:nvCxnSpPr>
        <p:spPr>
          <a:xfrm>
            <a:off x="4502589" y="4475688"/>
            <a:ext cx="216530" cy="0"/>
          </a:xfrm>
          <a:prstGeom prst="straightConnector1">
            <a:avLst/>
          </a:prstGeom>
          <a:ln>
            <a:solidFill>
              <a:srgbClr val="33666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615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20F37BD-E69A-DC34-FD16-6DB95B581EC8}"/>
              </a:ext>
            </a:extLst>
          </p:cNvPr>
          <p:cNvPicPr>
            <a:picLocks noGrp="1" noChangeAspect="1"/>
          </p:cNvPicPr>
          <p:nvPr>
            <p:ph idx="1"/>
          </p:nvPr>
        </p:nvPicPr>
        <p:blipFill>
          <a:blip r:embed="rId2">
            <a:alphaModFix amt="70000"/>
            <a:extLst>
              <a:ext uri="{28A0092B-C50C-407E-A947-70E740481C1C}">
                <a14:useLocalDpi xmlns:a14="http://schemas.microsoft.com/office/drawing/2010/main" val="0"/>
              </a:ext>
            </a:extLst>
          </a:blip>
          <a:stretch>
            <a:fillRect/>
          </a:stretch>
        </p:blipFill>
        <p:spPr>
          <a:xfrm>
            <a:off x="0" y="-111832"/>
            <a:ext cx="12192000" cy="6343649"/>
          </a:xfrm>
        </p:spPr>
      </p:pic>
      <p:sp>
        <p:nvSpPr>
          <p:cNvPr id="2" name="Title 1">
            <a:extLst>
              <a:ext uri="{FF2B5EF4-FFF2-40B4-BE49-F238E27FC236}">
                <a16:creationId xmlns:a16="http://schemas.microsoft.com/office/drawing/2014/main" id="{30511F2E-6E4D-1A4C-5191-86DC80CF8C16}"/>
              </a:ext>
            </a:extLst>
          </p:cNvPr>
          <p:cNvSpPr>
            <a:spLocks noGrp="1"/>
          </p:cNvSpPr>
          <p:nvPr>
            <p:ph type="title"/>
          </p:nvPr>
        </p:nvSpPr>
        <p:spPr>
          <a:xfrm>
            <a:off x="1716386" y="580915"/>
            <a:ext cx="3887709" cy="965734"/>
          </a:xfrm>
        </p:spPr>
        <p:txBody>
          <a:bodyPr>
            <a:normAutofit/>
          </a:bodyPr>
          <a:lstStyle/>
          <a:p>
            <a:r>
              <a:rPr lang="en-US" sz="4000" dirty="0">
                <a:solidFill>
                  <a:srgbClr val="336666"/>
                </a:solidFill>
                <a:latin typeface="Maiandra GD" panose="020E0502030308020204" pitchFamily="34" charset="0"/>
              </a:rPr>
              <a:t>Introduction</a:t>
            </a:r>
            <a:endParaRPr lang="en-NG" sz="4000" dirty="0"/>
          </a:p>
        </p:txBody>
      </p:sp>
      <p:sp>
        <p:nvSpPr>
          <p:cNvPr id="3" name="TextBox 2">
            <a:extLst>
              <a:ext uri="{FF2B5EF4-FFF2-40B4-BE49-F238E27FC236}">
                <a16:creationId xmlns:a16="http://schemas.microsoft.com/office/drawing/2014/main" id="{6C113D8D-C33E-5564-37AD-1520B804C09F}"/>
              </a:ext>
            </a:extLst>
          </p:cNvPr>
          <p:cNvSpPr txBox="1"/>
          <p:nvPr/>
        </p:nvSpPr>
        <p:spPr>
          <a:xfrm>
            <a:off x="914399" y="1810692"/>
            <a:ext cx="6418907" cy="1020344"/>
          </a:xfrm>
          <a:prstGeom prst="rect">
            <a:avLst/>
          </a:prstGeom>
          <a:noFill/>
        </p:spPr>
        <p:txBody>
          <a:bodyPr wrap="square" rtlCol="0">
            <a:spAutoFit/>
          </a:bodyPr>
          <a:lstStyle/>
          <a:p>
            <a:pPr algn="just">
              <a:lnSpc>
                <a:spcPct val="150000"/>
              </a:lnSpc>
            </a:pPr>
            <a:r>
              <a:rPr lang="en-US" sz="1400" dirty="0">
                <a:solidFill>
                  <a:srgbClr val="336666"/>
                </a:solidFill>
                <a:latin typeface="Arial Rounded MT Bold" panose="020F0704030504030204" pitchFamily="34" charset="0"/>
              </a:rPr>
              <a:t>This is a Power BI project that explores a comprehensive healthcare dataset to uncover insights into patient demographics, medical trends, hospital operations, insurance coverage, and billing patterns.</a:t>
            </a:r>
            <a:endParaRPr lang="en-NG" sz="1400" dirty="0">
              <a:solidFill>
                <a:srgbClr val="336666"/>
              </a:solidFill>
              <a:latin typeface="Arial Rounded MT Bold" panose="020F0704030504030204" pitchFamily="34" charset="0"/>
            </a:endParaRPr>
          </a:p>
        </p:txBody>
      </p:sp>
      <p:sp>
        <p:nvSpPr>
          <p:cNvPr id="4" name="TextBox 3">
            <a:extLst>
              <a:ext uri="{FF2B5EF4-FFF2-40B4-BE49-F238E27FC236}">
                <a16:creationId xmlns:a16="http://schemas.microsoft.com/office/drawing/2014/main" id="{1A844337-E9C1-C515-A222-779F85630893}"/>
              </a:ext>
            </a:extLst>
          </p:cNvPr>
          <p:cNvSpPr txBox="1"/>
          <p:nvPr/>
        </p:nvSpPr>
        <p:spPr>
          <a:xfrm>
            <a:off x="914399" y="3036720"/>
            <a:ext cx="6418906" cy="2636171"/>
          </a:xfrm>
          <a:prstGeom prst="rect">
            <a:avLst/>
          </a:prstGeom>
          <a:noFill/>
        </p:spPr>
        <p:txBody>
          <a:bodyPr wrap="square" rtlCol="0">
            <a:spAutoFit/>
          </a:bodyPr>
          <a:lstStyle/>
          <a:p>
            <a:pPr algn="just">
              <a:lnSpc>
                <a:spcPct val="150000"/>
              </a:lnSpc>
            </a:pPr>
            <a:r>
              <a:rPr lang="en-US" sz="1400" dirty="0">
                <a:solidFill>
                  <a:srgbClr val="336666"/>
                </a:solidFill>
                <a:latin typeface="Arial Rounded MT Bold" panose="020F0704030504030204" pitchFamily="34" charset="0"/>
              </a:rPr>
              <a:t>The dataset includes key attributes such as patient age, gender, blood type, medical condition, admission and discharge details, hospital and doctor information, billing amount, insurance provider, and test results. </a:t>
            </a:r>
          </a:p>
          <a:p>
            <a:pPr algn="just">
              <a:lnSpc>
                <a:spcPct val="150000"/>
              </a:lnSpc>
            </a:pPr>
            <a:endParaRPr lang="en-US" sz="1400" dirty="0">
              <a:solidFill>
                <a:srgbClr val="336666"/>
              </a:solidFill>
              <a:latin typeface="Arial Rounded MT Bold" panose="020F0704030504030204" pitchFamily="34" charset="0"/>
            </a:endParaRPr>
          </a:p>
          <a:p>
            <a:pPr algn="just">
              <a:lnSpc>
                <a:spcPct val="150000"/>
              </a:lnSpc>
            </a:pPr>
            <a:r>
              <a:rPr lang="en-US" sz="1400" dirty="0">
                <a:solidFill>
                  <a:srgbClr val="336666"/>
                </a:solidFill>
                <a:latin typeface="Arial Rounded MT Bold" panose="020F0704030504030204" pitchFamily="34" charset="0"/>
              </a:rPr>
              <a:t>This analysis supports healthcare providers and administrators in identifying critical trends and making data-driven decisions to enhance patient outcomes and optimize healthcare delivery.</a:t>
            </a:r>
          </a:p>
          <a:p>
            <a:pPr>
              <a:lnSpc>
                <a:spcPct val="150000"/>
              </a:lnSpc>
            </a:pPr>
            <a:endParaRPr lang="en-NG" sz="1400" dirty="0">
              <a:solidFill>
                <a:srgbClr val="336666"/>
              </a:solidFill>
              <a:latin typeface="Arial Rounded MT Bold" panose="020F0704030504030204" pitchFamily="34" charset="0"/>
            </a:endParaRPr>
          </a:p>
        </p:txBody>
      </p:sp>
    </p:spTree>
    <p:extLst>
      <p:ext uri="{BB962C8B-B14F-4D97-AF65-F5344CB8AC3E}">
        <p14:creationId xmlns:p14="http://schemas.microsoft.com/office/powerpoint/2010/main" val="2892850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14F9D0-0B03-8516-A289-E078B5C5F674}"/>
              </a:ext>
            </a:extLst>
          </p:cNvPr>
          <p:cNvPicPr>
            <a:picLocks noGrp="1" noChangeAspect="1"/>
          </p:cNvPicPr>
          <p:nvPr>
            <p:ph idx="1"/>
          </p:nvPr>
        </p:nvPicPr>
        <p:blipFill>
          <a:blip r:embed="rId2">
            <a:alphaModFix amt="70000"/>
            <a:extLst>
              <a:ext uri="{28A0092B-C50C-407E-A947-70E740481C1C}">
                <a14:useLocalDpi xmlns:a14="http://schemas.microsoft.com/office/drawing/2010/main" val="0"/>
              </a:ext>
            </a:extLst>
          </a:blip>
          <a:stretch>
            <a:fillRect/>
          </a:stretch>
        </p:blipFill>
        <p:spPr>
          <a:xfrm>
            <a:off x="0" y="-99588"/>
            <a:ext cx="12192000" cy="6341350"/>
          </a:xfrm>
        </p:spPr>
      </p:pic>
      <p:sp>
        <p:nvSpPr>
          <p:cNvPr id="2" name="Title 1">
            <a:extLst>
              <a:ext uri="{FF2B5EF4-FFF2-40B4-BE49-F238E27FC236}">
                <a16:creationId xmlns:a16="http://schemas.microsoft.com/office/drawing/2014/main" id="{264491EB-111D-25D8-F3BB-B7D60C43371C}"/>
              </a:ext>
            </a:extLst>
          </p:cNvPr>
          <p:cNvSpPr>
            <a:spLocks noGrp="1"/>
          </p:cNvSpPr>
          <p:nvPr>
            <p:ph type="title"/>
          </p:nvPr>
        </p:nvSpPr>
        <p:spPr>
          <a:xfrm>
            <a:off x="604319" y="203605"/>
            <a:ext cx="11364362" cy="1325563"/>
          </a:xfrm>
        </p:spPr>
        <p:txBody>
          <a:bodyPr>
            <a:normAutofit fontScale="90000"/>
          </a:bodyPr>
          <a:lstStyle/>
          <a:p>
            <a:pPr algn="just">
              <a:lnSpc>
                <a:spcPct val="150000"/>
              </a:lnSpc>
            </a:pPr>
            <a:r>
              <a:rPr lang="en-US" sz="4000" dirty="0">
                <a:solidFill>
                  <a:srgbClr val="336666"/>
                </a:solidFill>
                <a:latin typeface="Maiandra GD" panose="020E0502030308020204" pitchFamily="34" charset="0"/>
              </a:rPr>
              <a:t>Objective</a:t>
            </a:r>
            <a:br>
              <a:rPr lang="en-US" sz="1600" dirty="0"/>
            </a:br>
            <a:r>
              <a:rPr lang="en-US" sz="1400" dirty="0">
                <a:solidFill>
                  <a:srgbClr val="336666"/>
                </a:solidFill>
                <a:latin typeface="Arial Rounded MT Bold" panose="020F0704030504030204" pitchFamily="34" charset="0"/>
              </a:rPr>
              <a:t>To identify how demographic, medical, and operational factors such as age, gender, blood type, medical conditions, admission types, and insurance coverage, affect patient care, treatment outcomes, and hospital costs in order to support better decision-making in the healthcare system.</a:t>
            </a:r>
            <a:endParaRPr lang="en-NG" sz="1400" dirty="0">
              <a:solidFill>
                <a:srgbClr val="336666"/>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234AD38C-EA4A-2DC3-8338-20EC88AC8755}"/>
              </a:ext>
            </a:extLst>
          </p:cNvPr>
          <p:cNvSpPr txBox="1"/>
          <p:nvPr/>
        </p:nvSpPr>
        <p:spPr>
          <a:xfrm>
            <a:off x="605838" y="2729181"/>
            <a:ext cx="3800943" cy="1446550"/>
          </a:xfrm>
          <a:prstGeom prst="rect">
            <a:avLst/>
          </a:prstGeom>
          <a:noFill/>
        </p:spPr>
        <p:txBody>
          <a:bodyPr wrap="square" rtlCol="0">
            <a:spAutoFit/>
          </a:bodyPr>
          <a:lstStyle/>
          <a:p>
            <a:r>
              <a:rPr lang="en-US" sz="1400" b="1" dirty="0">
                <a:solidFill>
                  <a:srgbClr val="336666"/>
                </a:solidFill>
              </a:rPr>
              <a:t>Understand Patient Demographics</a:t>
            </a:r>
          </a:p>
          <a:p>
            <a:pPr>
              <a:buFont typeface="Arial" panose="020B0604020202020204" pitchFamily="34" charset="0"/>
              <a:buChar char="•"/>
            </a:pPr>
            <a:r>
              <a:rPr lang="en-US" sz="1400" dirty="0">
                <a:solidFill>
                  <a:srgbClr val="336666"/>
                </a:solidFill>
              </a:rPr>
              <a:t>What is the </a:t>
            </a:r>
            <a:r>
              <a:rPr lang="en-US" sz="1400" b="1" dirty="0">
                <a:solidFill>
                  <a:srgbClr val="336666"/>
                </a:solidFill>
              </a:rPr>
              <a:t>average age</a:t>
            </a:r>
            <a:r>
              <a:rPr lang="en-US" sz="1400" dirty="0">
                <a:solidFill>
                  <a:srgbClr val="336666"/>
                </a:solidFill>
              </a:rPr>
              <a:t> of patients?</a:t>
            </a:r>
          </a:p>
          <a:p>
            <a:pPr>
              <a:buFont typeface="Arial" panose="020B0604020202020204" pitchFamily="34" charset="0"/>
              <a:buChar char="•"/>
            </a:pPr>
            <a:r>
              <a:rPr lang="en-US" sz="1400" dirty="0">
                <a:solidFill>
                  <a:srgbClr val="336666"/>
                </a:solidFill>
              </a:rPr>
              <a:t>What is the </a:t>
            </a:r>
            <a:r>
              <a:rPr lang="en-US" sz="1400" b="1" dirty="0">
                <a:solidFill>
                  <a:srgbClr val="336666"/>
                </a:solidFill>
              </a:rPr>
              <a:t>gender distribution</a:t>
            </a:r>
            <a:r>
              <a:rPr lang="en-US" sz="1400" dirty="0">
                <a:solidFill>
                  <a:srgbClr val="336666"/>
                </a:solidFill>
              </a:rPr>
              <a:t> (male vs. female)?</a:t>
            </a:r>
          </a:p>
          <a:p>
            <a:pPr>
              <a:buFont typeface="Arial" panose="020B0604020202020204" pitchFamily="34" charset="0"/>
              <a:buChar char="•"/>
            </a:pPr>
            <a:r>
              <a:rPr lang="en-US" sz="1400" dirty="0">
                <a:solidFill>
                  <a:srgbClr val="336666"/>
                </a:solidFill>
              </a:rPr>
              <a:t>Which </a:t>
            </a:r>
            <a:r>
              <a:rPr lang="en-US" sz="1400" b="1" dirty="0">
                <a:solidFill>
                  <a:srgbClr val="336666"/>
                </a:solidFill>
              </a:rPr>
              <a:t>blood type</a:t>
            </a:r>
            <a:r>
              <a:rPr lang="en-US" sz="1400" dirty="0">
                <a:solidFill>
                  <a:srgbClr val="336666"/>
                </a:solidFill>
              </a:rPr>
              <a:t> is most common?</a:t>
            </a:r>
          </a:p>
          <a:p>
            <a:endParaRPr lang="en-NG" dirty="0">
              <a:solidFill>
                <a:srgbClr val="336666"/>
              </a:solidFill>
            </a:endParaRPr>
          </a:p>
        </p:txBody>
      </p:sp>
      <p:sp>
        <p:nvSpPr>
          <p:cNvPr id="16" name="TextBox 15">
            <a:extLst>
              <a:ext uri="{FF2B5EF4-FFF2-40B4-BE49-F238E27FC236}">
                <a16:creationId xmlns:a16="http://schemas.microsoft.com/office/drawing/2014/main" id="{285EA872-FD4B-B62F-23B4-34657F1C848C}"/>
              </a:ext>
            </a:extLst>
          </p:cNvPr>
          <p:cNvSpPr txBox="1"/>
          <p:nvPr/>
        </p:nvSpPr>
        <p:spPr>
          <a:xfrm>
            <a:off x="4379619" y="4245044"/>
            <a:ext cx="4083111" cy="2246769"/>
          </a:xfrm>
          <a:prstGeom prst="rect">
            <a:avLst/>
          </a:prstGeom>
          <a:noFill/>
        </p:spPr>
        <p:txBody>
          <a:bodyPr wrap="square" rtlCol="0">
            <a:spAutoFit/>
          </a:bodyPr>
          <a:lstStyle/>
          <a:p>
            <a:r>
              <a:rPr lang="en-US" sz="1400" b="1" dirty="0">
                <a:solidFill>
                  <a:srgbClr val="336666"/>
                </a:solidFill>
              </a:rPr>
              <a:t>Analyze Medical Trends</a:t>
            </a:r>
          </a:p>
          <a:p>
            <a:pPr>
              <a:buFont typeface="Arial" panose="020B0604020202020204" pitchFamily="34" charset="0"/>
              <a:buChar char="•"/>
            </a:pPr>
            <a:r>
              <a:rPr lang="en-US" sz="1400" dirty="0">
                <a:solidFill>
                  <a:srgbClr val="336666"/>
                </a:solidFill>
              </a:rPr>
              <a:t>What are the </a:t>
            </a:r>
            <a:r>
              <a:rPr lang="en-US" sz="1400" b="1" dirty="0">
                <a:solidFill>
                  <a:srgbClr val="336666"/>
                </a:solidFill>
              </a:rPr>
              <a:t>top medical conditions</a:t>
            </a:r>
            <a:r>
              <a:rPr lang="en-US" sz="1400" dirty="0">
                <a:solidFill>
                  <a:srgbClr val="336666"/>
                </a:solidFill>
              </a:rPr>
              <a:t> among patients?</a:t>
            </a:r>
          </a:p>
          <a:p>
            <a:pPr>
              <a:buFont typeface="Arial" panose="020B0604020202020204" pitchFamily="34" charset="0"/>
              <a:buChar char="•"/>
            </a:pPr>
            <a:r>
              <a:rPr lang="en-US" sz="1400" dirty="0">
                <a:solidFill>
                  <a:srgbClr val="336666"/>
                </a:solidFill>
              </a:rPr>
              <a:t>Which </a:t>
            </a:r>
            <a:r>
              <a:rPr lang="en-US" sz="1400" b="1" dirty="0">
                <a:solidFill>
                  <a:srgbClr val="336666"/>
                </a:solidFill>
              </a:rPr>
              <a:t>medications</a:t>
            </a:r>
            <a:r>
              <a:rPr lang="en-US" sz="1400" dirty="0">
                <a:solidFill>
                  <a:srgbClr val="336666"/>
                </a:solidFill>
              </a:rPr>
              <a:t> are most commonly prescribed per condition?</a:t>
            </a:r>
          </a:p>
          <a:p>
            <a:pPr>
              <a:buFont typeface="Arial" panose="020B0604020202020204" pitchFamily="34" charset="0"/>
              <a:buChar char="•"/>
            </a:pPr>
            <a:r>
              <a:rPr lang="en-US" sz="1400" dirty="0">
                <a:solidFill>
                  <a:srgbClr val="336666"/>
                </a:solidFill>
              </a:rPr>
              <a:t>How are patients </a:t>
            </a:r>
            <a:r>
              <a:rPr lang="en-US" sz="1400" b="1" dirty="0">
                <a:solidFill>
                  <a:srgbClr val="336666"/>
                </a:solidFill>
              </a:rPr>
              <a:t>admitted</a:t>
            </a:r>
            <a:r>
              <a:rPr lang="en-US" sz="1400" dirty="0">
                <a:solidFill>
                  <a:srgbClr val="336666"/>
                </a:solidFill>
              </a:rPr>
              <a:t>: Urgent, Emergency, or Elective?</a:t>
            </a:r>
          </a:p>
          <a:p>
            <a:pPr>
              <a:buFont typeface="Arial" panose="020B0604020202020204" pitchFamily="34" charset="0"/>
              <a:buChar char="•"/>
            </a:pPr>
            <a:r>
              <a:rPr lang="en-US" sz="1400" dirty="0">
                <a:solidFill>
                  <a:srgbClr val="336666"/>
                </a:solidFill>
              </a:rPr>
              <a:t>Do certain </a:t>
            </a:r>
            <a:r>
              <a:rPr lang="en-US" sz="1400" b="1" dirty="0">
                <a:solidFill>
                  <a:srgbClr val="336666"/>
                </a:solidFill>
              </a:rPr>
              <a:t>medical conditions</a:t>
            </a:r>
            <a:r>
              <a:rPr lang="en-US" sz="1400" dirty="0">
                <a:solidFill>
                  <a:srgbClr val="336666"/>
                </a:solidFill>
              </a:rPr>
              <a:t> relate to abnormal test results?</a:t>
            </a:r>
          </a:p>
          <a:p>
            <a:endParaRPr lang="en-NG" sz="1400" dirty="0">
              <a:solidFill>
                <a:srgbClr val="336666"/>
              </a:solidFill>
            </a:endParaRPr>
          </a:p>
        </p:txBody>
      </p:sp>
      <p:sp>
        <p:nvSpPr>
          <p:cNvPr id="17" name="TextBox 16">
            <a:extLst>
              <a:ext uri="{FF2B5EF4-FFF2-40B4-BE49-F238E27FC236}">
                <a16:creationId xmlns:a16="http://schemas.microsoft.com/office/drawing/2014/main" id="{57DBAA43-8986-C9A3-BED8-9EF41C8B6C61}"/>
              </a:ext>
            </a:extLst>
          </p:cNvPr>
          <p:cNvSpPr txBox="1"/>
          <p:nvPr/>
        </p:nvSpPr>
        <p:spPr>
          <a:xfrm>
            <a:off x="4379619" y="2636035"/>
            <a:ext cx="3800943" cy="1600438"/>
          </a:xfrm>
          <a:prstGeom prst="rect">
            <a:avLst/>
          </a:prstGeom>
          <a:noFill/>
        </p:spPr>
        <p:txBody>
          <a:bodyPr wrap="square" rtlCol="0">
            <a:spAutoFit/>
          </a:bodyPr>
          <a:lstStyle/>
          <a:p>
            <a:r>
              <a:rPr lang="en-US" sz="1400" b="1" dirty="0">
                <a:solidFill>
                  <a:srgbClr val="336666"/>
                </a:solidFill>
              </a:rPr>
              <a:t>Hospital &amp; Doctor Performance</a:t>
            </a:r>
          </a:p>
          <a:p>
            <a:pPr>
              <a:buFont typeface="Arial" panose="020B0604020202020204" pitchFamily="34" charset="0"/>
              <a:buChar char="•"/>
            </a:pPr>
            <a:r>
              <a:rPr lang="en-US" sz="1400" dirty="0">
                <a:solidFill>
                  <a:srgbClr val="336666"/>
                </a:solidFill>
              </a:rPr>
              <a:t>Which </a:t>
            </a:r>
            <a:r>
              <a:rPr lang="en-US" sz="1400" b="1" dirty="0">
                <a:solidFill>
                  <a:srgbClr val="336666"/>
                </a:solidFill>
              </a:rPr>
              <a:t>hospitals</a:t>
            </a:r>
            <a:r>
              <a:rPr lang="en-US" sz="1400" dirty="0">
                <a:solidFill>
                  <a:srgbClr val="336666"/>
                </a:solidFill>
              </a:rPr>
              <a:t> have treated the most patients?</a:t>
            </a:r>
          </a:p>
          <a:p>
            <a:pPr>
              <a:buFont typeface="Arial" panose="020B0604020202020204" pitchFamily="34" charset="0"/>
              <a:buChar char="•"/>
            </a:pPr>
            <a:r>
              <a:rPr lang="en-US" sz="1400" dirty="0">
                <a:solidFill>
                  <a:srgbClr val="336666"/>
                </a:solidFill>
              </a:rPr>
              <a:t>Which </a:t>
            </a:r>
            <a:r>
              <a:rPr lang="en-US" sz="1400" b="1" dirty="0">
                <a:solidFill>
                  <a:srgbClr val="336666"/>
                </a:solidFill>
              </a:rPr>
              <a:t>doctors</a:t>
            </a:r>
            <a:r>
              <a:rPr lang="en-US" sz="1400" dirty="0">
                <a:solidFill>
                  <a:srgbClr val="336666"/>
                </a:solidFill>
              </a:rPr>
              <a:t> handle the highest number of cases?</a:t>
            </a:r>
          </a:p>
          <a:p>
            <a:pPr>
              <a:buFont typeface="Arial" panose="020B0604020202020204" pitchFamily="34" charset="0"/>
              <a:buChar char="•"/>
            </a:pPr>
            <a:r>
              <a:rPr lang="en-US" sz="1400" dirty="0">
                <a:solidFill>
                  <a:srgbClr val="336666"/>
                </a:solidFill>
              </a:rPr>
              <a:t>What is the </a:t>
            </a:r>
            <a:r>
              <a:rPr lang="en-US" sz="1400" b="1" dirty="0">
                <a:solidFill>
                  <a:srgbClr val="336666"/>
                </a:solidFill>
              </a:rPr>
              <a:t>average billing amount</a:t>
            </a:r>
            <a:r>
              <a:rPr lang="en-US" sz="1400" dirty="0">
                <a:solidFill>
                  <a:srgbClr val="336666"/>
                </a:solidFill>
              </a:rPr>
              <a:t> by hospital and doctor?</a:t>
            </a:r>
          </a:p>
          <a:p>
            <a:endParaRPr lang="en-NG" sz="1400" dirty="0">
              <a:solidFill>
                <a:srgbClr val="336666"/>
              </a:solidFill>
            </a:endParaRPr>
          </a:p>
        </p:txBody>
      </p:sp>
      <p:sp>
        <p:nvSpPr>
          <p:cNvPr id="18" name="TextBox 17">
            <a:extLst>
              <a:ext uri="{FF2B5EF4-FFF2-40B4-BE49-F238E27FC236}">
                <a16:creationId xmlns:a16="http://schemas.microsoft.com/office/drawing/2014/main" id="{4B91E1A0-C356-FEBD-4061-77F42D85D8F3}"/>
              </a:ext>
            </a:extLst>
          </p:cNvPr>
          <p:cNvSpPr txBox="1"/>
          <p:nvPr/>
        </p:nvSpPr>
        <p:spPr>
          <a:xfrm>
            <a:off x="8363528" y="2601379"/>
            <a:ext cx="3776795" cy="1815882"/>
          </a:xfrm>
          <a:prstGeom prst="rect">
            <a:avLst/>
          </a:prstGeom>
          <a:noFill/>
        </p:spPr>
        <p:txBody>
          <a:bodyPr wrap="square" rtlCol="0">
            <a:spAutoFit/>
          </a:bodyPr>
          <a:lstStyle/>
          <a:p>
            <a:r>
              <a:rPr lang="en-US" sz="1400" b="1" dirty="0">
                <a:solidFill>
                  <a:srgbClr val="336666"/>
                </a:solidFill>
              </a:rPr>
              <a:t>Insurance &amp; Billing Patterns</a:t>
            </a:r>
          </a:p>
          <a:p>
            <a:pPr>
              <a:buFont typeface="Arial" panose="020B0604020202020204" pitchFamily="34" charset="0"/>
              <a:buChar char="•"/>
            </a:pPr>
            <a:r>
              <a:rPr lang="en-US" sz="1400" dirty="0">
                <a:solidFill>
                  <a:srgbClr val="336666"/>
                </a:solidFill>
              </a:rPr>
              <a:t>Which </a:t>
            </a:r>
            <a:r>
              <a:rPr lang="en-US" sz="1400" b="1" dirty="0">
                <a:solidFill>
                  <a:srgbClr val="336666"/>
                </a:solidFill>
              </a:rPr>
              <a:t>insurance provider</a:t>
            </a:r>
            <a:r>
              <a:rPr lang="en-US" sz="1400" dirty="0">
                <a:solidFill>
                  <a:srgbClr val="336666"/>
                </a:solidFill>
              </a:rPr>
              <a:t> covers the most patients?</a:t>
            </a:r>
          </a:p>
          <a:p>
            <a:pPr>
              <a:buFont typeface="Arial" panose="020B0604020202020204" pitchFamily="34" charset="0"/>
              <a:buChar char="•"/>
            </a:pPr>
            <a:r>
              <a:rPr lang="en-US" sz="1400" dirty="0">
                <a:solidFill>
                  <a:srgbClr val="336666"/>
                </a:solidFill>
              </a:rPr>
              <a:t>Which </a:t>
            </a:r>
            <a:r>
              <a:rPr lang="en-US" sz="1400" b="1" dirty="0">
                <a:solidFill>
                  <a:srgbClr val="336666"/>
                </a:solidFill>
              </a:rPr>
              <a:t>admission type</a:t>
            </a:r>
            <a:r>
              <a:rPr lang="en-US" sz="1400" dirty="0">
                <a:solidFill>
                  <a:srgbClr val="336666"/>
                </a:solidFill>
              </a:rPr>
              <a:t> has the highest billing average?</a:t>
            </a:r>
          </a:p>
          <a:p>
            <a:pPr>
              <a:buFont typeface="Arial" panose="020B0604020202020204" pitchFamily="34" charset="0"/>
              <a:buChar char="•"/>
            </a:pPr>
            <a:r>
              <a:rPr lang="en-US" sz="1400" dirty="0">
                <a:solidFill>
                  <a:srgbClr val="336666"/>
                </a:solidFill>
              </a:rPr>
              <a:t>How do </a:t>
            </a:r>
            <a:r>
              <a:rPr lang="en-US" sz="1400" b="1" dirty="0">
                <a:solidFill>
                  <a:srgbClr val="336666"/>
                </a:solidFill>
              </a:rPr>
              <a:t>test results</a:t>
            </a:r>
            <a:r>
              <a:rPr lang="en-US" sz="1400" dirty="0">
                <a:solidFill>
                  <a:srgbClr val="336666"/>
                </a:solidFill>
              </a:rPr>
              <a:t> affect billing amounts (Normal vs Abnormal)?</a:t>
            </a:r>
          </a:p>
          <a:p>
            <a:endParaRPr lang="en-NG" sz="1400" dirty="0">
              <a:solidFill>
                <a:srgbClr val="336666"/>
              </a:solidFill>
            </a:endParaRPr>
          </a:p>
        </p:txBody>
      </p:sp>
      <p:sp>
        <p:nvSpPr>
          <p:cNvPr id="20" name="TextBox 19">
            <a:extLst>
              <a:ext uri="{FF2B5EF4-FFF2-40B4-BE49-F238E27FC236}">
                <a16:creationId xmlns:a16="http://schemas.microsoft.com/office/drawing/2014/main" id="{0FDF0B4A-AF07-9285-D083-B641329DB80F}"/>
              </a:ext>
            </a:extLst>
          </p:cNvPr>
          <p:cNvSpPr txBox="1"/>
          <p:nvPr/>
        </p:nvSpPr>
        <p:spPr>
          <a:xfrm>
            <a:off x="604319" y="4175731"/>
            <a:ext cx="3701356" cy="1815882"/>
          </a:xfrm>
          <a:prstGeom prst="rect">
            <a:avLst/>
          </a:prstGeom>
          <a:noFill/>
        </p:spPr>
        <p:txBody>
          <a:bodyPr wrap="square" rtlCol="0">
            <a:spAutoFit/>
          </a:bodyPr>
          <a:lstStyle/>
          <a:p>
            <a:r>
              <a:rPr lang="en-US" sz="1400" b="1" dirty="0">
                <a:solidFill>
                  <a:srgbClr val="336666"/>
                </a:solidFill>
              </a:rPr>
              <a:t>Time-Based Analysis</a:t>
            </a:r>
          </a:p>
          <a:p>
            <a:pPr>
              <a:buFont typeface="Arial" panose="020B0604020202020204" pitchFamily="34" charset="0"/>
              <a:buChar char="•"/>
            </a:pPr>
            <a:r>
              <a:rPr lang="en-US" sz="1400" dirty="0">
                <a:solidFill>
                  <a:srgbClr val="336666"/>
                </a:solidFill>
              </a:rPr>
              <a:t>Which </a:t>
            </a:r>
            <a:r>
              <a:rPr lang="en-US" sz="1400" b="1" dirty="0">
                <a:solidFill>
                  <a:srgbClr val="336666"/>
                </a:solidFill>
              </a:rPr>
              <a:t>month</a:t>
            </a:r>
            <a:r>
              <a:rPr lang="en-US" sz="1400" dirty="0">
                <a:solidFill>
                  <a:srgbClr val="336666"/>
                </a:solidFill>
              </a:rPr>
              <a:t> has the highest number of admissions?</a:t>
            </a:r>
          </a:p>
          <a:p>
            <a:pPr>
              <a:buFont typeface="Arial" panose="020B0604020202020204" pitchFamily="34" charset="0"/>
              <a:buChar char="•"/>
            </a:pPr>
            <a:r>
              <a:rPr lang="en-US" sz="1400" dirty="0">
                <a:solidFill>
                  <a:srgbClr val="336666"/>
                </a:solidFill>
              </a:rPr>
              <a:t>What is the </a:t>
            </a:r>
            <a:r>
              <a:rPr lang="en-US" sz="1400" b="1" dirty="0">
                <a:solidFill>
                  <a:srgbClr val="336666"/>
                </a:solidFill>
              </a:rPr>
              <a:t>average length of stay</a:t>
            </a:r>
            <a:r>
              <a:rPr lang="en-US" sz="1400" dirty="0">
                <a:solidFill>
                  <a:srgbClr val="336666"/>
                </a:solidFill>
              </a:rPr>
              <a:t> (Discharge – Admission)?</a:t>
            </a:r>
          </a:p>
          <a:p>
            <a:pPr>
              <a:buFont typeface="Arial" panose="020B0604020202020204" pitchFamily="34" charset="0"/>
              <a:buChar char="•"/>
            </a:pPr>
            <a:r>
              <a:rPr lang="en-US" sz="1400" dirty="0">
                <a:solidFill>
                  <a:srgbClr val="336666"/>
                </a:solidFill>
              </a:rPr>
              <a:t>Is there a </a:t>
            </a:r>
            <a:r>
              <a:rPr lang="en-US" sz="1400" b="1" dirty="0">
                <a:solidFill>
                  <a:srgbClr val="336666"/>
                </a:solidFill>
              </a:rPr>
              <a:t>correlation</a:t>
            </a:r>
            <a:r>
              <a:rPr lang="en-US" sz="1400" dirty="0">
                <a:solidFill>
                  <a:srgbClr val="336666"/>
                </a:solidFill>
              </a:rPr>
              <a:t> between length of stay and billing amount?</a:t>
            </a:r>
          </a:p>
          <a:p>
            <a:endParaRPr lang="en-NG" sz="1400" dirty="0">
              <a:solidFill>
                <a:srgbClr val="336666"/>
              </a:solidFill>
            </a:endParaRPr>
          </a:p>
        </p:txBody>
      </p:sp>
      <p:sp>
        <p:nvSpPr>
          <p:cNvPr id="21" name="TextBox 20">
            <a:extLst>
              <a:ext uri="{FF2B5EF4-FFF2-40B4-BE49-F238E27FC236}">
                <a16:creationId xmlns:a16="http://schemas.microsoft.com/office/drawing/2014/main" id="{D67A472C-4545-0616-425A-C49B8AA28980}"/>
              </a:ext>
            </a:extLst>
          </p:cNvPr>
          <p:cNvSpPr txBox="1"/>
          <p:nvPr/>
        </p:nvSpPr>
        <p:spPr>
          <a:xfrm>
            <a:off x="8401248" y="4345512"/>
            <a:ext cx="3701356" cy="1815882"/>
          </a:xfrm>
          <a:prstGeom prst="rect">
            <a:avLst/>
          </a:prstGeom>
          <a:noFill/>
        </p:spPr>
        <p:txBody>
          <a:bodyPr wrap="square" rtlCol="0">
            <a:spAutoFit/>
          </a:bodyPr>
          <a:lstStyle/>
          <a:p>
            <a:r>
              <a:rPr lang="en-US" sz="1400" b="1" dirty="0">
                <a:solidFill>
                  <a:srgbClr val="336666"/>
                </a:solidFill>
              </a:rPr>
              <a:t>Storytelling &amp; Insights</a:t>
            </a:r>
          </a:p>
          <a:p>
            <a:pPr>
              <a:buFont typeface="Arial" panose="020B0604020202020204" pitchFamily="34" charset="0"/>
              <a:buChar char="•"/>
            </a:pPr>
            <a:r>
              <a:rPr lang="en-US" sz="1400" dirty="0">
                <a:solidFill>
                  <a:srgbClr val="336666"/>
                </a:solidFill>
              </a:rPr>
              <a:t>What type of </a:t>
            </a:r>
            <a:r>
              <a:rPr lang="en-US" sz="1400" b="1" dirty="0">
                <a:solidFill>
                  <a:srgbClr val="336666"/>
                </a:solidFill>
              </a:rPr>
              <a:t>patients</a:t>
            </a:r>
            <a:r>
              <a:rPr lang="en-US" sz="1400" dirty="0">
                <a:solidFill>
                  <a:srgbClr val="336666"/>
                </a:solidFill>
              </a:rPr>
              <a:t> are most commonly admitted?</a:t>
            </a:r>
          </a:p>
          <a:p>
            <a:pPr>
              <a:buFont typeface="Arial" panose="020B0604020202020204" pitchFamily="34" charset="0"/>
              <a:buChar char="•"/>
            </a:pPr>
            <a:r>
              <a:rPr lang="en-US" sz="1400" dirty="0">
                <a:solidFill>
                  <a:srgbClr val="336666"/>
                </a:solidFill>
              </a:rPr>
              <a:t>Which </a:t>
            </a:r>
            <a:r>
              <a:rPr lang="en-US" sz="1400" b="1" dirty="0">
                <a:solidFill>
                  <a:srgbClr val="336666"/>
                </a:solidFill>
              </a:rPr>
              <a:t>hospitals or doctors</a:t>
            </a:r>
            <a:r>
              <a:rPr lang="en-US" sz="1400" dirty="0">
                <a:solidFill>
                  <a:srgbClr val="336666"/>
                </a:solidFill>
              </a:rPr>
              <a:t> handle more critical cases?</a:t>
            </a:r>
          </a:p>
          <a:p>
            <a:pPr>
              <a:buFont typeface="Arial" panose="020B0604020202020204" pitchFamily="34" charset="0"/>
              <a:buChar char="•"/>
            </a:pPr>
            <a:r>
              <a:rPr lang="en-US" sz="1400" dirty="0">
                <a:solidFill>
                  <a:srgbClr val="336666"/>
                </a:solidFill>
              </a:rPr>
              <a:t>What are potential </a:t>
            </a:r>
            <a:r>
              <a:rPr lang="en-US" sz="1400" b="1" dirty="0">
                <a:solidFill>
                  <a:srgbClr val="336666"/>
                </a:solidFill>
              </a:rPr>
              <a:t>opportunities</a:t>
            </a:r>
            <a:r>
              <a:rPr lang="en-US" sz="1400" dirty="0">
                <a:solidFill>
                  <a:srgbClr val="336666"/>
                </a:solidFill>
              </a:rPr>
              <a:t> to reduce costs or improve care?</a:t>
            </a:r>
          </a:p>
          <a:p>
            <a:endParaRPr lang="en-NG" sz="1400" dirty="0">
              <a:solidFill>
                <a:srgbClr val="336666"/>
              </a:solidFill>
            </a:endParaRPr>
          </a:p>
        </p:txBody>
      </p:sp>
      <p:sp>
        <p:nvSpPr>
          <p:cNvPr id="22" name="TextBox 21">
            <a:extLst>
              <a:ext uri="{FF2B5EF4-FFF2-40B4-BE49-F238E27FC236}">
                <a16:creationId xmlns:a16="http://schemas.microsoft.com/office/drawing/2014/main" id="{48FCB55A-B311-3437-AE10-E8205D579350}"/>
              </a:ext>
            </a:extLst>
          </p:cNvPr>
          <p:cNvSpPr txBox="1"/>
          <p:nvPr/>
        </p:nvSpPr>
        <p:spPr>
          <a:xfrm>
            <a:off x="4160825" y="1893493"/>
            <a:ext cx="4520697" cy="707886"/>
          </a:xfrm>
          <a:prstGeom prst="rect">
            <a:avLst/>
          </a:prstGeom>
          <a:noFill/>
        </p:spPr>
        <p:txBody>
          <a:bodyPr wrap="square" rtlCol="0">
            <a:spAutoFit/>
          </a:bodyPr>
          <a:lstStyle/>
          <a:p>
            <a:r>
              <a:rPr lang="en-US" sz="4000" dirty="0">
                <a:solidFill>
                  <a:srgbClr val="336666"/>
                </a:solidFill>
                <a:latin typeface="Maiandra GD" panose="020E0502030308020204" pitchFamily="34" charset="0"/>
              </a:rPr>
              <a:t>Business Questions</a:t>
            </a:r>
            <a:endParaRPr lang="en-NG" sz="4000" dirty="0">
              <a:solidFill>
                <a:srgbClr val="336666"/>
              </a:solidFill>
              <a:latin typeface="Maiandra GD" panose="020E0502030308020204" pitchFamily="34" charset="0"/>
            </a:endParaRPr>
          </a:p>
        </p:txBody>
      </p:sp>
    </p:spTree>
    <p:extLst>
      <p:ext uri="{BB962C8B-B14F-4D97-AF65-F5344CB8AC3E}">
        <p14:creationId xmlns:p14="http://schemas.microsoft.com/office/powerpoint/2010/main" val="57551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20F37BD-E69A-DC34-FD16-6DB95B581EC8}"/>
              </a:ext>
            </a:extLst>
          </p:cNvPr>
          <p:cNvPicPr>
            <a:picLocks noGrp="1" noChangeAspect="1"/>
          </p:cNvPicPr>
          <p:nvPr>
            <p:ph idx="1"/>
          </p:nvPr>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343649"/>
          </a:xfrm>
        </p:spPr>
      </p:pic>
      <p:sp>
        <p:nvSpPr>
          <p:cNvPr id="2" name="Title 1">
            <a:extLst>
              <a:ext uri="{FF2B5EF4-FFF2-40B4-BE49-F238E27FC236}">
                <a16:creationId xmlns:a16="http://schemas.microsoft.com/office/drawing/2014/main" id="{30511F2E-6E4D-1A4C-5191-86DC80CF8C16}"/>
              </a:ext>
            </a:extLst>
          </p:cNvPr>
          <p:cNvSpPr>
            <a:spLocks noGrp="1"/>
          </p:cNvSpPr>
          <p:nvPr>
            <p:ph type="title"/>
          </p:nvPr>
        </p:nvSpPr>
        <p:spPr>
          <a:xfrm>
            <a:off x="684291" y="626183"/>
            <a:ext cx="7572469" cy="965734"/>
          </a:xfrm>
        </p:spPr>
        <p:txBody>
          <a:bodyPr>
            <a:noAutofit/>
          </a:bodyPr>
          <a:lstStyle/>
          <a:p>
            <a:r>
              <a:rPr lang="en-US" sz="4000" dirty="0">
                <a:solidFill>
                  <a:srgbClr val="336666"/>
                </a:solidFill>
                <a:latin typeface="Maiandra GD" panose="020E0502030308020204" pitchFamily="34" charset="0"/>
              </a:rPr>
              <a:t>Data transformation &amp; cleaning</a:t>
            </a:r>
            <a:br>
              <a:rPr lang="en-US" sz="4000" dirty="0">
                <a:solidFill>
                  <a:srgbClr val="336666"/>
                </a:solidFill>
                <a:latin typeface="Maiandra GD" panose="020E0502030308020204" pitchFamily="34" charset="0"/>
              </a:rPr>
            </a:br>
            <a:endParaRPr lang="en-NG" sz="4000" dirty="0">
              <a:latin typeface="Maiandra GD" panose="020E0502030308020204" pitchFamily="34" charset="0"/>
            </a:endParaRPr>
          </a:p>
        </p:txBody>
      </p:sp>
      <p:sp>
        <p:nvSpPr>
          <p:cNvPr id="4" name="TextBox 3">
            <a:extLst>
              <a:ext uri="{FF2B5EF4-FFF2-40B4-BE49-F238E27FC236}">
                <a16:creationId xmlns:a16="http://schemas.microsoft.com/office/drawing/2014/main" id="{1A844337-E9C1-C515-A222-779F85630893}"/>
              </a:ext>
            </a:extLst>
          </p:cNvPr>
          <p:cNvSpPr txBox="1"/>
          <p:nvPr/>
        </p:nvSpPr>
        <p:spPr>
          <a:xfrm>
            <a:off x="684291" y="1333488"/>
            <a:ext cx="5602681" cy="4898329"/>
          </a:xfrm>
          <a:prstGeom prst="rect">
            <a:avLst/>
          </a:prstGeom>
          <a:noFill/>
        </p:spPr>
        <p:txBody>
          <a:bodyPr wrap="square" rtlCol="0">
            <a:spAutoFit/>
          </a:bodyPr>
          <a:lstStyle/>
          <a:p>
            <a:pPr>
              <a:lnSpc>
                <a:spcPct val="150000"/>
              </a:lnSpc>
            </a:pPr>
            <a:r>
              <a:rPr lang="en-US" sz="1400" b="1" dirty="0">
                <a:solidFill>
                  <a:srgbClr val="336666"/>
                </a:solidFill>
                <a:latin typeface="Arial Rounded MT Bold" panose="020F0704030504030204" pitchFamily="34" charset="0"/>
              </a:rPr>
              <a:t>Missing Values: </a:t>
            </a:r>
            <a:r>
              <a:rPr lang="en-US" sz="1400" dirty="0">
                <a:solidFill>
                  <a:srgbClr val="336666"/>
                </a:solidFill>
                <a:latin typeface="Arial Rounded MT Bold" panose="020F0704030504030204" pitchFamily="34" charset="0"/>
              </a:rPr>
              <a:t>No missing values found in the dataset</a:t>
            </a:r>
          </a:p>
          <a:p>
            <a:pPr>
              <a:lnSpc>
                <a:spcPct val="150000"/>
              </a:lnSpc>
            </a:pPr>
            <a:endParaRPr lang="en-US" sz="1400" dirty="0">
              <a:solidFill>
                <a:srgbClr val="336666"/>
              </a:solidFill>
              <a:latin typeface="Arial Rounded MT Bold" panose="020F0704030504030204" pitchFamily="34" charset="0"/>
            </a:endParaRPr>
          </a:p>
          <a:p>
            <a:pPr>
              <a:lnSpc>
                <a:spcPct val="150000"/>
              </a:lnSpc>
            </a:pPr>
            <a:r>
              <a:rPr lang="en-US" sz="1400" b="1" dirty="0">
                <a:solidFill>
                  <a:srgbClr val="336666"/>
                </a:solidFill>
                <a:latin typeface="Arial Rounded MT Bold" panose="020F0704030504030204" pitchFamily="34" charset="0"/>
              </a:rPr>
              <a:t>Duplicate Records</a:t>
            </a:r>
            <a:endParaRPr lang="en-US" sz="1400" dirty="0">
              <a:solidFill>
                <a:srgbClr val="336666"/>
              </a:solidFill>
              <a:latin typeface="Arial Rounded MT Bold" panose="020F0704030504030204" pitchFamily="34" charset="0"/>
            </a:endParaRPr>
          </a:p>
          <a:p>
            <a:pPr>
              <a:lnSpc>
                <a:spcPct val="150000"/>
              </a:lnSpc>
              <a:buFont typeface="Arial" panose="020B0604020202020204" pitchFamily="34" charset="0"/>
              <a:buChar char="•"/>
            </a:pPr>
            <a:r>
              <a:rPr lang="en-US" sz="1400" dirty="0">
                <a:solidFill>
                  <a:srgbClr val="336666"/>
                </a:solidFill>
                <a:latin typeface="Arial Rounded MT Bold" panose="020F0704030504030204" pitchFamily="34" charset="0"/>
              </a:rPr>
              <a:t>Removed </a:t>
            </a:r>
            <a:r>
              <a:rPr lang="en-US" sz="1400" b="1" dirty="0">
                <a:solidFill>
                  <a:srgbClr val="336666"/>
                </a:solidFill>
                <a:latin typeface="Arial Rounded MT Bold" panose="020F0704030504030204" pitchFamily="34" charset="0"/>
              </a:rPr>
              <a:t>534 </a:t>
            </a:r>
            <a:r>
              <a:rPr lang="en-US" sz="1400" dirty="0">
                <a:solidFill>
                  <a:srgbClr val="336666"/>
                </a:solidFill>
                <a:latin typeface="Arial Rounded MT Bold" panose="020F0704030504030204" pitchFamily="34" charset="0"/>
              </a:rPr>
              <a:t>duplicate rows</a:t>
            </a:r>
          </a:p>
          <a:p>
            <a:pPr>
              <a:lnSpc>
                <a:spcPct val="150000"/>
              </a:lnSpc>
              <a:buFont typeface="Arial" panose="020B0604020202020204" pitchFamily="34" charset="0"/>
              <a:buChar char="•"/>
            </a:pPr>
            <a:r>
              <a:rPr lang="en-US" sz="1400" dirty="0">
                <a:solidFill>
                  <a:srgbClr val="336666"/>
                </a:solidFill>
                <a:latin typeface="Arial Rounded MT Bold" panose="020F0704030504030204" pitchFamily="34" charset="0"/>
              </a:rPr>
              <a:t>Dataset reduced from </a:t>
            </a:r>
            <a:r>
              <a:rPr lang="en-US" sz="1400" b="1" dirty="0">
                <a:solidFill>
                  <a:srgbClr val="336666"/>
                </a:solidFill>
                <a:latin typeface="Arial Rounded MT Bold" panose="020F0704030504030204" pitchFamily="34" charset="0"/>
              </a:rPr>
              <a:t>55,501</a:t>
            </a:r>
            <a:r>
              <a:rPr lang="en-US" sz="1400" dirty="0">
                <a:solidFill>
                  <a:srgbClr val="336666"/>
                </a:solidFill>
                <a:latin typeface="Arial Rounded MT Bold" panose="020F0704030504030204" pitchFamily="34" charset="0"/>
              </a:rPr>
              <a:t> to </a:t>
            </a:r>
            <a:r>
              <a:rPr lang="en-US" sz="1400" b="1" dirty="0">
                <a:solidFill>
                  <a:srgbClr val="336666"/>
                </a:solidFill>
                <a:latin typeface="Arial Rounded MT Bold" panose="020F0704030504030204" pitchFamily="34" charset="0"/>
              </a:rPr>
              <a:t>54,966</a:t>
            </a:r>
            <a:r>
              <a:rPr lang="en-US" sz="1400" dirty="0">
                <a:solidFill>
                  <a:srgbClr val="336666"/>
                </a:solidFill>
                <a:latin typeface="Arial Rounded MT Bold" panose="020F0704030504030204" pitchFamily="34" charset="0"/>
              </a:rPr>
              <a:t> rows</a:t>
            </a:r>
          </a:p>
          <a:p>
            <a:pPr>
              <a:lnSpc>
                <a:spcPct val="150000"/>
              </a:lnSpc>
            </a:pPr>
            <a:endParaRPr lang="en-US" sz="1400" dirty="0">
              <a:solidFill>
                <a:srgbClr val="336666"/>
              </a:solidFill>
              <a:latin typeface="Arial Rounded MT Bold" panose="020F0704030504030204" pitchFamily="34" charset="0"/>
            </a:endParaRPr>
          </a:p>
          <a:p>
            <a:pPr>
              <a:lnSpc>
                <a:spcPct val="150000"/>
              </a:lnSpc>
            </a:pPr>
            <a:r>
              <a:rPr lang="en-US" sz="1400" b="1" dirty="0">
                <a:solidFill>
                  <a:srgbClr val="336666"/>
                </a:solidFill>
                <a:latin typeface="Arial Rounded MT Bold" panose="020F0704030504030204" pitchFamily="34" charset="0"/>
              </a:rPr>
              <a:t>Inconsistent Data Formats</a:t>
            </a:r>
            <a:endParaRPr lang="en-US" sz="1400" dirty="0">
              <a:solidFill>
                <a:srgbClr val="336666"/>
              </a:solidFill>
              <a:latin typeface="Arial Rounded MT Bold" panose="020F0704030504030204" pitchFamily="34" charset="0"/>
            </a:endParaRPr>
          </a:p>
          <a:p>
            <a:pPr>
              <a:lnSpc>
                <a:spcPct val="150000"/>
              </a:lnSpc>
              <a:buFont typeface="Arial" panose="020B0604020202020204" pitchFamily="34" charset="0"/>
              <a:buChar char="•"/>
            </a:pPr>
            <a:r>
              <a:rPr lang="en-US" sz="1400" dirty="0">
                <a:solidFill>
                  <a:srgbClr val="336666"/>
                </a:solidFill>
                <a:latin typeface="Arial Rounded MT Bold" panose="020F0704030504030204" pitchFamily="34" charset="0"/>
              </a:rPr>
              <a:t>Fixed formatting issues in Name and Billing Amount columns</a:t>
            </a:r>
          </a:p>
          <a:p>
            <a:pPr>
              <a:lnSpc>
                <a:spcPct val="150000"/>
              </a:lnSpc>
            </a:pPr>
            <a:endParaRPr lang="en-US" sz="1400" dirty="0">
              <a:solidFill>
                <a:srgbClr val="336666"/>
              </a:solidFill>
              <a:latin typeface="Arial Rounded MT Bold" panose="020F0704030504030204" pitchFamily="34" charset="0"/>
            </a:endParaRPr>
          </a:p>
          <a:p>
            <a:pPr>
              <a:lnSpc>
                <a:spcPct val="150000"/>
              </a:lnSpc>
            </a:pPr>
            <a:r>
              <a:rPr lang="en-US" sz="1400" b="1" dirty="0">
                <a:solidFill>
                  <a:srgbClr val="336666"/>
                </a:solidFill>
                <a:latin typeface="Arial Rounded MT Bold" panose="020F0704030504030204" pitchFamily="34" charset="0"/>
              </a:rPr>
              <a:t>Data Type Conversion</a:t>
            </a:r>
            <a:endParaRPr lang="en-US" sz="1400" dirty="0">
              <a:solidFill>
                <a:srgbClr val="336666"/>
              </a:solidFill>
              <a:latin typeface="Arial Rounded MT Bold" panose="020F0704030504030204" pitchFamily="34" charset="0"/>
            </a:endParaRPr>
          </a:p>
          <a:p>
            <a:pPr>
              <a:lnSpc>
                <a:spcPct val="150000"/>
              </a:lnSpc>
              <a:buFont typeface="Arial" panose="020B0604020202020204" pitchFamily="34" charset="0"/>
              <a:buChar char="•"/>
            </a:pPr>
            <a:r>
              <a:rPr lang="en-US" sz="1400" dirty="0">
                <a:solidFill>
                  <a:srgbClr val="336666"/>
                </a:solidFill>
                <a:latin typeface="Arial Rounded MT Bold" panose="020F0704030504030204" pitchFamily="34" charset="0"/>
              </a:rPr>
              <a:t>Converted date columns to proper </a:t>
            </a:r>
            <a:r>
              <a:rPr lang="en-US" sz="1400" i="1" dirty="0">
                <a:solidFill>
                  <a:srgbClr val="336666"/>
                </a:solidFill>
                <a:latin typeface="Arial Rounded MT Bold" panose="020F0704030504030204" pitchFamily="34" charset="0"/>
              </a:rPr>
              <a:t>date type</a:t>
            </a:r>
            <a:endParaRPr lang="en-US" sz="1400" dirty="0">
              <a:solidFill>
                <a:srgbClr val="336666"/>
              </a:solidFill>
              <a:latin typeface="Arial Rounded MT Bold" panose="020F0704030504030204" pitchFamily="34" charset="0"/>
            </a:endParaRPr>
          </a:p>
          <a:p>
            <a:pPr>
              <a:lnSpc>
                <a:spcPct val="150000"/>
              </a:lnSpc>
              <a:buFont typeface="Arial" panose="020B0604020202020204" pitchFamily="34" charset="0"/>
              <a:buChar char="•"/>
            </a:pPr>
            <a:r>
              <a:rPr lang="en-US" sz="1400" dirty="0">
                <a:solidFill>
                  <a:srgbClr val="336666"/>
                </a:solidFill>
                <a:latin typeface="Arial Rounded MT Bold" panose="020F0704030504030204" pitchFamily="34" charset="0"/>
              </a:rPr>
              <a:t>Changed Billing Amount to </a:t>
            </a:r>
            <a:r>
              <a:rPr lang="en-US" sz="1400" i="1" dirty="0">
                <a:solidFill>
                  <a:srgbClr val="336666"/>
                </a:solidFill>
                <a:latin typeface="Arial Rounded MT Bold" panose="020F0704030504030204" pitchFamily="34" charset="0"/>
              </a:rPr>
              <a:t>currency format</a:t>
            </a:r>
            <a:endParaRPr lang="en-US" sz="1400" dirty="0">
              <a:solidFill>
                <a:srgbClr val="336666"/>
              </a:solidFill>
              <a:latin typeface="Arial Rounded MT Bold" panose="020F0704030504030204" pitchFamily="34" charset="0"/>
            </a:endParaRPr>
          </a:p>
          <a:p>
            <a:pPr>
              <a:lnSpc>
                <a:spcPct val="150000"/>
              </a:lnSpc>
            </a:pPr>
            <a:endParaRPr lang="en-US" sz="1400" dirty="0">
              <a:solidFill>
                <a:srgbClr val="336666"/>
              </a:solidFill>
              <a:latin typeface="Arial Rounded MT Bold" panose="020F0704030504030204" pitchFamily="34" charset="0"/>
            </a:endParaRPr>
          </a:p>
          <a:p>
            <a:pPr>
              <a:lnSpc>
                <a:spcPct val="150000"/>
              </a:lnSpc>
            </a:pPr>
            <a:endParaRPr lang="en-US" sz="1400" dirty="0">
              <a:solidFill>
                <a:srgbClr val="336666"/>
              </a:solidFill>
              <a:latin typeface="Arial Rounded MT Bold" panose="020F0704030504030204" pitchFamily="34" charset="0"/>
            </a:endParaRPr>
          </a:p>
          <a:p>
            <a:pPr>
              <a:lnSpc>
                <a:spcPct val="150000"/>
              </a:lnSpc>
            </a:pPr>
            <a:endParaRPr lang="en-NG" sz="1400" dirty="0">
              <a:solidFill>
                <a:srgbClr val="336666"/>
              </a:solidFill>
              <a:latin typeface="Arial Rounded MT Bold" panose="020F0704030504030204" pitchFamily="34" charset="0"/>
            </a:endParaRPr>
          </a:p>
        </p:txBody>
      </p:sp>
    </p:spTree>
    <p:extLst>
      <p:ext uri="{BB962C8B-B14F-4D97-AF65-F5344CB8AC3E}">
        <p14:creationId xmlns:p14="http://schemas.microsoft.com/office/powerpoint/2010/main" val="1490105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40732DB-AFFE-B0BB-823B-11899783A7FE}"/>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0" y="-47625"/>
            <a:ext cx="12192000" cy="6355533"/>
          </a:xfrm>
          <a:prstGeom prst="rect">
            <a:avLst/>
          </a:prstGeom>
        </p:spPr>
      </p:pic>
      <p:sp>
        <p:nvSpPr>
          <p:cNvPr id="2" name="Title 1">
            <a:extLst>
              <a:ext uri="{FF2B5EF4-FFF2-40B4-BE49-F238E27FC236}">
                <a16:creationId xmlns:a16="http://schemas.microsoft.com/office/drawing/2014/main" id="{30511F2E-6E4D-1A4C-5191-86DC80CF8C16}"/>
              </a:ext>
            </a:extLst>
          </p:cNvPr>
          <p:cNvSpPr>
            <a:spLocks noGrp="1"/>
          </p:cNvSpPr>
          <p:nvPr>
            <p:ph type="title"/>
          </p:nvPr>
        </p:nvSpPr>
        <p:spPr>
          <a:xfrm>
            <a:off x="1874068" y="195818"/>
            <a:ext cx="6690511" cy="1118799"/>
          </a:xfrm>
        </p:spPr>
        <p:txBody>
          <a:bodyPr>
            <a:normAutofit/>
          </a:bodyPr>
          <a:lstStyle/>
          <a:p>
            <a:r>
              <a:rPr lang="en-US" sz="4000" dirty="0">
                <a:solidFill>
                  <a:srgbClr val="444444"/>
                </a:solidFill>
                <a:latin typeface="Maiandra GD" panose="020E0502030308020204" pitchFamily="34" charset="0"/>
              </a:rPr>
              <a:t>Data </a:t>
            </a:r>
            <a:r>
              <a:rPr lang="en-US" sz="4000" dirty="0">
                <a:solidFill>
                  <a:srgbClr val="336666"/>
                </a:solidFill>
                <a:latin typeface="Maiandra GD" panose="020E0502030308020204" pitchFamily="34" charset="0"/>
              </a:rPr>
              <a:t>Modelling</a:t>
            </a:r>
            <a:endParaRPr lang="en-NG" sz="4000" dirty="0">
              <a:solidFill>
                <a:srgbClr val="336666"/>
              </a:solidFill>
              <a:latin typeface="Maiandra GD" panose="020E0502030308020204" pitchFamily="34" charset="0"/>
            </a:endParaRPr>
          </a:p>
        </p:txBody>
      </p:sp>
      <p:sp>
        <p:nvSpPr>
          <p:cNvPr id="6" name="TextBox 5">
            <a:extLst>
              <a:ext uri="{FF2B5EF4-FFF2-40B4-BE49-F238E27FC236}">
                <a16:creationId xmlns:a16="http://schemas.microsoft.com/office/drawing/2014/main" id="{13803EDB-153F-9A3B-29E1-91D9E7E09C76}"/>
              </a:ext>
            </a:extLst>
          </p:cNvPr>
          <p:cNvSpPr txBox="1"/>
          <p:nvPr/>
        </p:nvSpPr>
        <p:spPr>
          <a:xfrm>
            <a:off x="4589259" y="1876367"/>
            <a:ext cx="6464173" cy="1666675"/>
          </a:xfrm>
          <a:prstGeom prst="rect">
            <a:avLst/>
          </a:prstGeom>
          <a:noFill/>
        </p:spPr>
        <p:txBody>
          <a:bodyPr wrap="square" rtlCol="0">
            <a:spAutoFit/>
          </a:bodyPr>
          <a:lstStyle/>
          <a:p>
            <a:pPr>
              <a:lnSpc>
                <a:spcPct val="150000"/>
              </a:lnSpc>
            </a:pPr>
            <a:r>
              <a:rPr lang="en-US" sz="1400" dirty="0">
                <a:solidFill>
                  <a:srgbClr val="336666"/>
                </a:solidFill>
                <a:latin typeface="Arial Rounded MT Bold" panose="020F0704030504030204" pitchFamily="34" charset="0"/>
              </a:rPr>
              <a:t>•  Wrote useful DAX Measures (e.g., Total Admissions, Length of Stay).</a:t>
            </a:r>
          </a:p>
          <a:p>
            <a:pPr>
              <a:lnSpc>
                <a:spcPct val="150000"/>
              </a:lnSpc>
            </a:pPr>
            <a:endParaRPr lang="en-US" sz="1400" dirty="0">
              <a:solidFill>
                <a:srgbClr val="336666"/>
              </a:solidFill>
              <a:latin typeface="Arial Rounded MT Bold" panose="020F0704030504030204" pitchFamily="34" charset="0"/>
            </a:endParaRPr>
          </a:p>
          <a:p>
            <a:pPr>
              <a:lnSpc>
                <a:spcPct val="150000"/>
              </a:lnSpc>
            </a:pPr>
            <a:endParaRPr lang="en-US" sz="1400" dirty="0">
              <a:solidFill>
                <a:srgbClr val="336666"/>
              </a:solidFill>
              <a:latin typeface="Arial Rounded MT Bold" panose="020F0704030504030204" pitchFamily="34" charset="0"/>
            </a:endParaRPr>
          </a:p>
          <a:p>
            <a:pPr>
              <a:lnSpc>
                <a:spcPct val="150000"/>
              </a:lnSpc>
            </a:pPr>
            <a:r>
              <a:rPr lang="en-US" sz="1400" dirty="0">
                <a:solidFill>
                  <a:srgbClr val="336666"/>
                </a:solidFill>
                <a:latin typeface="Arial Rounded MT Bold" panose="020F0704030504030204" pitchFamily="34" charset="0"/>
              </a:rPr>
              <a:t>• Used slicers and visuals to validate that filters and relationships worked accurately. </a:t>
            </a:r>
          </a:p>
        </p:txBody>
      </p:sp>
    </p:spTree>
    <p:extLst>
      <p:ext uri="{BB962C8B-B14F-4D97-AF65-F5344CB8AC3E}">
        <p14:creationId xmlns:p14="http://schemas.microsoft.com/office/powerpoint/2010/main" val="1489431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A03A62-89B6-2CF8-4C87-278BCDFA9896}"/>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4" name="TextBox 3">
            <a:extLst>
              <a:ext uri="{FF2B5EF4-FFF2-40B4-BE49-F238E27FC236}">
                <a16:creationId xmlns:a16="http://schemas.microsoft.com/office/drawing/2014/main" id="{7F39A42C-5142-E183-CFBB-3FE120211518}"/>
              </a:ext>
            </a:extLst>
          </p:cNvPr>
          <p:cNvSpPr txBox="1"/>
          <p:nvPr/>
        </p:nvSpPr>
        <p:spPr>
          <a:xfrm>
            <a:off x="3109913" y="-6710"/>
            <a:ext cx="6162674" cy="707886"/>
          </a:xfrm>
          <a:prstGeom prst="rect">
            <a:avLst/>
          </a:prstGeom>
          <a:noFill/>
        </p:spPr>
        <p:txBody>
          <a:bodyPr wrap="square">
            <a:spAutoFit/>
          </a:bodyPr>
          <a:lstStyle/>
          <a:p>
            <a:r>
              <a:rPr lang="en-US" sz="4000" dirty="0">
                <a:solidFill>
                  <a:srgbClr val="444444"/>
                </a:solidFill>
                <a:latin typeface="Maiandra GD" panose="020E0502030308020204" pitchFamily="34" charset="0"/>
              </a:rPr>
              <a:t>Dashboard </a:t>
            </a:r>
            <a:r>
              <a:rPr lang="en-US" sz="4000" dirty="0">
                <a:solidFill>
                  <a:srgbClr val="336666"/>
                </a:solidFill>
                <a:latin typeface="Maiandra GD" panose="020E0502030308020204" pitchFamily="34" charset="0"/>
              </a:rPr>
              <a:t>Overview</a:t>
            </a:r>
            <a:endParaRPr lang="en-NG" sz="4000" dirty="0"/>
          </a:p>
        </p:txBody>
      </p:sp>
      <p:pic>
        <p:nvPicPr>
          <p:cNvPr id="8" name="Picture 7">
            <a:extLst>
              <a:ext uri="{FF2B5EF4-FFF2-40B4-BE49-F238E27FC236}">
                <a16:creationId xmlns:a16="http://schemas.microsoft.com/office/drawing/2014/main" id="{312A0F32-2723-1BCE-7842-B0B0FAA41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13" y="4212249"/>
            <a:ext cx="3211393" cy="2085882"/>
          </a:xfrm>
          <a:prstGeom prst="rect">
            <a:avLst/>
          </a:prstGeom>
        </p:spPr>
      </p:pic>
      <p:pic>
        <p:nvPicPr>
          <p:cNvPr id="10" name="Picture 9">
            <a:extLst>
              <a:ext uri="{FF2B5EF4-FFF2-40B4-BE49-F238E27FC236}">
                <a16:creationId xmlns:a16="http://schemas.microsoft.com/office/drawing/2014/main" id="{F955F4EC-C9D6-750B-A550-BCE4D567CA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496" y="1642528"/>
            <a:ext cx="3167829" cy="1931469"/>
          </a:xfrm>
          <a:prstGeom prst="rect">
            <a:avLst/>
          </a:prstGeom>
        </p:spPr>
      </p:pic>
      <p:pic>
        <p:nvPicPr>
          <p:cNvPr id="12" name="Picture 11">
            <a:extLst>
              <a:ext uri="{FF2B5EF4-FFF2-40B4-BE49-F238E27FC236}">
                <a16:creationId xmlns:a16="http://schemas.microsoft.com/office/drawing/2014/main" id="{A9FD6782-A972-B439-D66E-D1A16625B3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1306" y="1695847"/>
            <a:ext cx="3211393" cy="1863977"/>
          </a:xfrm>
          <a:prstGeom prst="rect">
            <a:avLst/>
          </a:prstGeom>
        </p:spPr>
      </p:pic>
      <p:pic>
        <p:nvPicPr>
          <p:cNvPr id="14" name="Picture 13">
            <a:extLst>
              <a:ext uri="{FF2B5EF4-FFF2-40B4-BE49-F238E27FC236}">
                <a16:creationId xmlns:a16="http://schemas.microsoft.com/office/drawing/2014/main" id="{5AD8D354-C692-6CAD-9AA0-57399124C5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1306" y="4212249"/>
            <a:ext cx="3167829" cy="2085882"/>
          </a:xfrm>
          <a:prstGeom prst="rect">
            <a:avLst/>
          </a:prstGeom>
        </p:spPr>
      </p:pic>
      <p:sp>
        <p:nvSpPr>
          <p:cNvPr id="16" name="TextBox 15">
            <a:extLst>
              <a:ext uri="{FF2B5EF4-FFF2-40B4-BE49-F238E27FC236}">
                <a16:creationId xmlns:a16="http://schemas.microsoft.com/office/drawing/2014/main" id="{B7735452-8E18-A9D4-A7AF-7FA2724573C1}"/>
              </a:ext>
            </a:extLst>
          </p:cNvPr>
          <p:cNvSpPr txBox="1"/>
          <p:nvPr/>
        </p:nvSpPr>
        <p:spPr>
          <a:xfrm>
            <a:off x="344899" y="559464"/>
            <a:ext cx="11847102" cy="869918"/>
          </a:xfrm>
          <a:prstGeom prst="rect">
            <a:avLst/>
          </a:prstGeom>
          <a:noFill/>
        </p:spPr>
        <p:txBody>
          <a:bodyPr wrap="square" rtlCol="0">
            <a:spAutoFit/>
          </a:bodyPr>
          <a:lstStyle/>
          <a:p>
            <a:pPr>
              <a:lnSpc>
                <a:spcPct val="150000"/>
              </a:lnSpc>
            </a:pPr>
            <a:r>
              <a:rPr lang="en-US" sz="1800" dirty="0">
                <a:solidFill>
                  <a:srgbClr val="336666"/>
                </a:solidFill>
                <a:latin typeface="Arial Rounded MT Bold" panose="020F0704030504030204" pitchFamily="34" charset="0"/>
              </a:rPr>
              <a:t>Four pages representation of the health care dataset, namely : The general overview, patient demographics, Hospital and doctors overview, Billing and insurance overview </a:t>
            </a:r>
          </a:p>
        </p:txBody>
      </p:sp>
      <p:sp>
        <p:nvSpPr>
          <p:cNvPr id="17" name="TextBox 16">
            <a:extLst>
              <a:ext uri="{FF2B5EF4-FFF2-40B4-BE49-F238E27FC236}">
                <a16:creationId xmlns:a16="http://schemas.microsoft.com/office/drawing/2014/main" id="{29A6FBD0-F40B-45B4-1DA9-3DAC28CB4A8E}"/>
              </a:ext>
            </a:extLst>
          </p:cNvPr>
          <p:cNvSpPr txBox="1"/>
          <p:nvPr/>
        </p:nvSpPr>
        <p:spPr>
          <a:xfrm>
            <a:off x="3362326" y="1684933"/>
            <a:ext cx="2812403" cy="1231106"/>
          </a:xfrm>
          <a:prstGeom prst="rect">
            <a:avLst/>
          </a:prstGeom>
          <a:noFill/>
        </p:spPr>
        <p:txBody>
          <a:bodyPr wrap="square" rtlCol="0">
            <a:spAutoFit/>
          </a:bodyPr>
          <a:lstStyle/>
          <a:p>
            <a:r>
              <a:rPr lang="en-US" sz="1200" dirty="0">
                <a:solidFill>
                  <a:srgbClr val="336666"/>
                </a:solidFill>
                <a:latin typeface="Arial Rounded MT Bold" panose="020F0704030504030204" pitchFamily="34" charset="0"/>
              </a:rPr>
              <a:t>The general overview contains general information on the dataset like :total patient, breakdown of the medical conditions, age and the billing amount.</a:t>
            </a:r>
          </a:p>
          <a:p>
            <a:endParaRPr lang="en-NG" sz="1400" dirty="0"/>
          </a:p>
        </p:txBody>
      </p:sp>
      <p:sp>
        <p:nvSpPr>
          <p:cNvPr id="23" name="TextBox 22">
            <a:extLst>
              <a:ext uri="{FF2B5EF4-FFF2-40B4-BE49-F238E27FC236}">
                <a16:creationId xmlns:a16="http://schemas.microsoft.com/office/drawing/2014/main" id="{BF273426-B48D-8B67-2842-BEE0AB7CEDF1}"/>
              </a:ext>
            </a:extLst>
          </p:cNvPr>
          <p:cNvSpPr txBox="1"/>
          <p:nvPr/>
        </p:nvSpPr>
        <p:spPr>
          <a:xfrm>
            <a:off x="9559635" y="1869599"/>
            <a:ext cx="2590799" cy="861774"/>
          </a:xfrm>
          <a:prstGeom prst="rect">
            <a:avLst/>
          </a:prstGeom>
          <a:noFill/>
        </p:spPr>
        <p:txBody>
          <a:bodyPr wrap="square" rtlCol="0">
            <a:spAutoFit/>
          </a:bodyPr>
          <a:lstStyle/>
          <a:p>
            <a:r>
              <a:rPr lang="en-US" sz="1200" dirty="0">
                <a:solidFill>
                  <a:srgbClr val="336666"/>
                </a:solidFill>
                <a:latin typeface="Arial Rounded MT Bold" panose="020F0704030504030204" pitchFamily="34" charset="0"/>
              </a:rPr>
              <a:t>Hospital and doctors overview provides more insight on the hospitals used and doctors . </a:t>
            </a:r>
          </a:p>
          <a:p>
            <a:endParaRPr lang="en-NG" sz="1400" dirty="0"/>
          </a:p>
        </p:txBody>
      </p:sp>
      <p:sp>
        <p:nvSpPr>
          <p:cNvPr id="24" name="TextBox 23">
            <a:extLst>
              <a:ext uri="{FF2B5EF4-FFF2-40B4-BE49-F238E27FC236}">
                <a16:creationId xmlns:a16="http://schemas.microsoft.com/office/drawing/2014/main" id="{74B13B1A-431B-F335-E472-601449097ABF}"/>
              </a:ext>
            </a:extLst>
          </p:cNvPr>
          <p:cNvSpPr txBox="1"/>
          <p:nvPr/>
        </p:nvSpPr>
        <p:spPr>
          <a:xfrm>
            <a:off x="9525000" y="4235024"/>
            <a:ext cx="2590799" cy="1415772"/>
          </a:xfrm>
          <a:prstGeom prst="rect">
            <a:avLst/>
          </a:prstGeom>
          <a:noFill/>
        </p:spPr>
        <p:txBody>
          <a:bodyPr wrap="square" rtlCol="0">
            <a:spAutoFit/>
          </a:bodyPr>
          <a:lstStyle/>
          <a:p>
            <a:r>
              <a:rPr lang="en-US" sz="1200" dirty="0">
                <a:solidFill>
                  <a:srgbClr val="336666"/>
                </a:solidFill>
                <a:latin typeface="Arial Rounded MT Bold" panose="020F0704030504030204" pitchFamily="34" charset="0"/>
              </a:rPr>
              <a:t>The insurance and billing page provides insights on the money spent on how various factors such as hospital, doctor and length of stay affect the billing.</a:t>
            </a:r>
          </a:p>
          <a:p>
            <a:endParaRPr lang="en-US" sz="1200" dirty="0">
              <a:solidFill>
                <a:srgbClr val="336666"/>
              </a:solidFill>
              <a:latin typeface="Arial Rounded MT Bold" panose="020F0704030504030204" pitchFamily="34" charset="0"/>
            </a:endParaRPr>
          </a:p>
          <a:p>
            <a:endParaRPr lang="en-NG" sz="1400" dirty="0"/>
          </a:p>
        </p:txBody>
      </p:sp>
      <p:sp>
        <p:nvSpPr>
          <p:cNvPr id="25" name="TextBox 24">
            <a:extLst>
              <a:ext uri="{FF2B5EF4-FFF2-40B4-BE49-F238E27FC236}">
                <a16:creationId xmlns:a16="http://schemas.microsoft.com/office/drawing/2014/main" id="{5A99B113-1437-5E02-FC25-E5D02ACB6E32}"/>
              </a:ext>
            </a:extLst>
          </p:cNvPr>
          <p:cNvSpPr txBox="1"/>
          <p:nvPr/>
        </p:nvSpPr>
        <p:spPr>
          <a:xfrm>
            <a:off x="3399896" y="4235024"/>
            <a:ext cx="2590799" cy="1231106"/>
          </a:xfrm>
          <a:prstGeom prst="rect">
            <a:avLst/>
          </a:prstGeom>
          <a:noFill/>
        </p:spPr>
        <p:txBody>
          <a:bodyPr wrap="square" rtlCol="0">
            <a:spAutoFit/>
          </a:bodyPr>
          <a:lstStyle/>
          <a:p>
            <a:r>
              <a:rPr lang="en-US" sz="1200" dirty="0">
                <a:solidFill>
                  <a:srgbClr val="336666"/>
                </a:solidFill>
                <a:latin typeface="Arial Rounded MT Bold" panose="020F0704030504030204" pitchFamily="34" charset="0"/>
              </a:rPr>
              <a:t>Patient demographics provides more insight on age breakdown, gender and medical condition of the patient.</a:t>
            </a:r>
          </a:p>
          <a:p>
            <a:r>
              <a:rPr lang="en-US" sz="1200" dirty="0">
                <a:solidFill>
                  <a:srgbClr val="336666"/>
                </a:solidFill>
                <a:latin typeface="Arial Rounded MT Bold" panose="020F0704030504030204" pitchFamily="34" charset="0"/>
              </a:rPr>
              <a:t> </a:t>
            </a:r>
          </a:p>
          <a:p>
            <a:endParaRPr lang="en-NG" sz="1400" dirty="0"/>
          </a:p>
        </p:txBody>
      </p:sp>
    </p:spTree>
    <p:extLst>
      <p:ext uri="{BB962C8B-B14F-4D97-AF65-F5344CB8AC3E}">
        <p14:creationId xmlns:p14="http://schemas.microsoft.com/office/powerpoint/2010/main" val="365508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4DAFBD-D54A-E5DE-567A-DA81D4C289D8}"/>
              </a:ext>
            </a:extLst>
          </p:cNvPr>
          <p:cNvSpPr/>
          <p:nvPr/>
        </p:nvSpPr>
        <p:spPr>
          <a:xfrm>
            <a:off x="0" y="-104775"/>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9" name="Picture 8">
            <a:extLst>
              <a:ext uri="{FF2B5EF4-FFF2-40B4-BE49-F238E27FC236}">
                <a16:creationId xmlns:a16="http://schemas.microsoft.com/office/drawing/2014/main" id="{BA8592D9-BE66-F4EE-F1D1-47DAA299F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074" y="966564"/>
            <a:ext cx="4164951" cy="2462436"/>
          </a:xfrm>
          <a:prstGeom prst="rect">
            <a:avLst/>
          </a:prstGeom>
        </p:spPr>
      </p:pic>
      <p:pic>
        <p:nvPicPr>
          <p:cNvPr id="10" name="Picture 9">
            <a:extLst>
              <a:ext uri="{FF2B5EF4-FFF2-40B4-BE49-F238E27FC236}">
                <a16:creationId xmlns:a16="http://schemas.microsoft.com/office/drawing/2014/main" id="{1E737AFC-CA0E-DA43-4559-677D873CB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6698" y="3614083"/>
            <a:ext cx="3883153" cy="2338474"/>
          </a:xfrm>
          <a:prstGeom prst="rect">
            <a:avLst/>
          </a:prstGeom>
        </p:spPr>
      </p:pic>
      <p:sp>
        <p:nvSpPr>
          <p:cNvPr id="2" name="TextBox 1">
            <a:extLst>
              <a:ext uri="{FF2B5EF4-FFF2-40B4-BE49-F238E27FC236}">
                <a16:creationId xmlns:a16="http://schemas.microsoft.com/office/drawing/2014/main" id="{0B65B253-9FF6-7CDF-3D78-4EE350113147}"/>
              </a:ext>
            </a:extLst>
          </p:cNvPr>
          <p:cNvSpPr txBox="1"/>
          <p:nvPr/>
        </p:nvSpPr>
        <p:spPr>
          <a:xfrm>
            <a:off x="2899368" y="165735"/>
            <a:ext cx="7025682" cy="984885"/>
          </a:xfrm>
          <a:prstGeom prst="rect">
            <a:avLst/>
          </a:prstGeom>
          <a:noFill/>
        </p:spPr>
        <p:txBody>
          <a:bodyPr wrap="square" rtlCol="0">
            <a:spAutoFit/>
          </a:bodyPr>
          <a:lstStyle/>
          <a:p>
            <a:r>
              <a:rPr lang="en-US" sz="4000" dirty="0">
                <a:solidFill>
                  <a:srgbClr val="336666"/>
                </a:solidFill>
                <a:latin typeface="Maiandra GD" panose="020E0502030308020204" pitchFamily="34" charset="0"/>
              </a:rPr>
              <a:t>Analysis and visualization</a:t>
            </a:r>
          </a:p>
          <a:p>
            <a:endParaRPr lang="en-NG" dirty="0">
              <a:latin typeface="Maiandra GD" panose="020E0502030308020204" pitchFamily="34" charset="0"/>
            </a:endParaRPr>
          </a:p>
        </p:txBody>
      </p:sp>
      <p:sp>
        <p:nvSpPr>
          <p:cNvPr id="3" name="TextBox 2">
            <a:extLst>
              <a:ext uri="{FF2B5EF4-FFF2-40B4-BE49-F238E27FC236}">
                <a16:creationId xmlns:a16="http://schemas.microsoft.com/office/drawing/2014/main" id="{5FEEA6DA-D1B1-7BDC-ED7E-62B0C1173E66}"/>
              </a:ext>
            </a:extLst>
          </p:cNvPr>
          <p:cNvSpPr txBox="1"/>
          <p:nvPr/>
        </p:nvSpPr>
        <p:spPr>
          <a:xfrm>
            <a:off x="4578025" y="1305229"/>
            <a:ext cx="6883077" cy="1384995"/>
          </a:xfrm>
          <a:prstGeom prst="rect">
            <a:avLst/>
          </a:prstGeom>
          <a:noFill/>
        </p:spPr>
        <p:txBody>
          <a:bodyPr wrap="square" rtlCol="0">
            <a:spAutoFit/>
          </a:bodyPr>
          <a:lstStyle/>
          <a:p>
            <a:r>
              <a:rPr lang="en-GB" sz="1400" dirty="0">
                <a:latin typeface="Arial Rounded MT Bold" panose="020F0704030504030204" pitchFamily="34" charset="0"/>
              </a:rPr>
              <a:t>This chart shows the key metrics</a:t>
            </a:r>
          </a:p>
          <a:p>
            <a:r>
              <a:rPr lang="en-GB" sz="1400" b="1" dirty="0">
                <a:latin typeface="Arial Rounded MT Bold" panose="020F0704030504030204" pitchFamily="34" charset="0"/>
              </a:rPr>
              <a:t>Total Admission</a:t>
            </a:r>
            <a:r>
              <a:rPr lang="en-GB" sz="1400" dirty="0">
                <a:latin typeface="Arial Rounded MT Bold" panose="020F0704030504030204" pitchFamily="34" charset="0"/>
              </a:rPr>
              <a:t>: 56,966 patients have been admitted.</a:t>
            </a:r>
          </a:p>
          <a:p>
            <a:r>
              <a:rPr lang="en-GB" sz="1400" b="1" dirty="0">
                <a:latin typeface="Arial Rounded MT Bold" panose="020F0704030504030204" pitchFamily="34" charset="0"/>
              </a:rPr>
              <a:t>Total Billing</a:t>
            </a:r>
            <a:r>
              <a:rPr lang="en-GB" sz="1400" dirty="0">
                <a:latin typeface="Arial Rounded MT Bold" panose="020F0704030504030204" pitchFamily="34" charset="0"/>
              </a:rPr>
              <a:t>: The total healthcare billing is $1.4 billion.</a:t>
            </a:r>
          </a:p>
          <a:p>
            <a:r>
              <a:rPr lang="en-GB" sz="1400" b="1" dirty="0">
                <a:latin typeface="Arial Rounded MT Bold" panose="020F0704030504030204" pitchFamily="34" charset="0"/>
              </a:rPr>
              <a:t>Total Doctor</a:t>
            </a:r>
            <a:r>
              <a:rPr lang="en-GB" sz="1400" dirty="0">
                <a:latin typeface="Arial Rounded MT Bold" panose="020F0704030504030204" pitchFamily="34" charset="0"/>
              </a:rPr>
              <a:t>: There are 40,341 doctors </a:t>
            </a:r>
          </a:p>
          <a:p>
            <a:r>
              <a:rPr lang="en-GB" sz="1400" b="1" dirty="0">
                <a:latin typeface="Arial Rounded MT Bold" panose="020F0704030504030204" pitchFamily="34" charset="0"/>
              </a:rPr>
              <a:t>Average Age</a:t>
            </a:r>
            <a:r>
              <a:rPr lang="en-GB" sz="1400" dirty="0">
                <a:latin typeface="Arial Rounded MT Bold" panose="020F0704030504030204" pitchFamily="34" charset="0"/>
              </a:rPr>
              <a:t>: The average age of patients is 51.54 years.   </a:t>
            </a:r>
            <a:endParaRPr lang="en-US" sz="1400" dirty="0">
              <a:latin typeface="Arial Rounded MT Bold" panose="020F0704030504030204" pitchFamily="34" charset="0"/>
            </a:endParaRPr>
          </a:p>
          <a:p>
            <a:endParaRPr lang="en-NG" sz="1400" dirty="0">
              <a:latin typeface="Arial Rounded MT Bold" panose="020F0704030504030204" pitchFamily="34" charset="0"/>
            </a:endParaRPr>
          </a:p>
        </p:txBody>
      </p:sp>
      <p:sp>
        <p:nvSpPr>
          <p:cNvPr id="4" name="TextBox 3">
            <a:extLst>
              <a:ext uri="{FF2B5EF4-FFF2-40B4-BE49-F238E27FC236}">
                <a16:creationId xmlns:a16="http://schemas.microsoft.com/office/drawing/2014/main" id="{A234C3A0-AE13-3EEA-EE4B-0899FC5B6387}"/>
              </a:ext>
            </a:extLst>
          </p:cNvPr>
          <p:cNvSpPr txBox="1"/>
          <p:nvPr/>
        </p:nvSpPr>
        <p:spPr>
          <a:xfrm>
            <a:off x="2219325" y="4229829"/>
            <a:ext cx="5295901" cy="1169551"/>
          </a:xfrm>
          <a:prstGeom prst="rect">
            <a:avLst/>
          </a:prstGeom>
          <a:noFill/>
        </p:spPr>
        <p:txBody>
          <a:bodyPr wrap="square" rtlCol="0">
            <a:spAutoFit/>
          </a:bodyPr>
          <a:lstStyle/>
          <a:p>
            <a:r>
              <a:rPr lang="en-GB" sz="1400" dirty="0">
                <a:latin typeface="Arial Rounded MT Bold" panose="020F0704030504030204" pitchFamily="34" charset="0"/>
              </a:rPr>
              <a:t>This shows the different Medical condition : which include arthritis asthma, cancer, diabetes, hypertension, and obesity with its definitions.</a:t>
            </a:r>
          </a:p>
          <a:p>
            <a:r>
              <a:rPr lang="en-GB" sz="1400" dirty="0">
                <a:latin typeface="Arial Rounded MT Bold" panose="020F0704030504030204" pitchFamily="34" charset="0"/>
              </a:rPr>
              <a:t>It also shows percentage of test result distributions for each medical condition: Abnormal, </a:t>
            </a:r>
            <a:r>
              <a:rPr lang="en-GB" sz="1400" kern="1200" dirty="0">
                <a:solidFill>
                  <a:schemeClr val="tx1"/>
                </a:solidFill>
                <a:latin typeface="Arial Rounded MT Bold" panose="020F0704030504030204" pitchFamily="34" charset="0"/>
              </a:rPr>
              <a:t>Inconclusive,</a:t>
            </a:r>
            <a:r>
              <a:rPr lang="en-GB" sz="1400" dirty="0">
                <a:latin typeface="Arial Rounded MT Bold" panose="020F0704030504030204" pitchFamily="34" charset="0"/>
              </a:rPr>
              <a:t> Normal.</a:t>
            </a:r>
          </a:p>
        </p:txBody>
      </p:sp>
    </p:spTree>
    <p:extLst>
      <p:ext uri="{BB962C8B-B14F-4D97-AF65-F5344CB8AC3E}">
        <p14:creationId xmlns:p14="http://schemas.microsoft.com/office/powerpoint/2010/main" val="2201104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EFF8DBF-A7A1-046A-278E-0701A4045753}"/>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3" name="Picture 2">
            <a:extLst>
              <a:ext uri="{FF2B5EF4-FFF2-40B4-BE49-F238E27FC236}">
                <a16:creationId xmlns:a16="http://schemas.microsoft.com/office/drawing/2014/main" id="{308C6E20-7E41-6DFF-6D08-242E1C9C15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253" y="1047552"/>
            <a:ext cx="4627042" cy="2381448"/>
          </a:xfrm>
          <a:prstGeom prst="rect">
            <a:avLst/>
          </a:prstGeom>
        </p:spPr>
      </p:pic>
      <p:pic>
        <p:nvPicPr>
          <p:cNvPr id="6" name="Picture 5">
            <a:extLst>
              <a:ext uri="{FF2B5EF4-FFF2-40B4-BE49-F238E27FC236}">
                <a16:creationId xmlns:a16="http://schemas.microsoft.com/office/drawing/2014/main" id="{B439A4C2-ED06-8FED-2E7C-7586206C38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2325" y="3710336"/>
            <a:ext cx="4312993" cy="2280987"/>
          </a:xfrm>
          <a:prstGeom prst="rect">
            <a:avLst/>
          </a:prstGeom>
        </p:spPr>
      </p:pic>
      <p:sp>
        <p:nvSpPr>
          <p:cNvPr id="4" name="TextBox 3">
            <a:extLst>
              <a:ext uri="{FF2B5EF4-FFF2-40B4-BE49-F238E27FC236}">
                <a16:creationId xmlns:a16="http://schemas.microsoft.com/office/drawing/2014/main" id="{BD318B2A-A4AE-65F2-E31F-0E294D703F9E}"/>
              </a:ext>
            </a:extLst>
          </p:cNvPr>
          <p:cNvSpPr txBox="1"/>
          <p:nvPr/>
        </p:nvSpPr>
        <p:spPr>
          <a:xfrm>
            <a:off x="3313567" y="-270110"/>
            <a:ext cx="7333307" cy="1136786"/>
          </a:xfrm>
          <a:prstGeom prst="rect">
            <a:avLst/>
          </a:prstGeom>
          <a:noFill/>
        </p:spPr>
        <p:txBody>
          <a:bodyPr wrap="square">
            <a:spAutoFit/>
          </a:bodyPr>
          <a:lstStyle/>
          <a:p>
            <a:pPr>
              <a:lnSpc>
                <a:spcPct val="200000"/>
              </a:lnSpc>
            </a:pPr>
            <a:r>
              <a:rPr lang="en-US" sz="4000" dirty="0">
                <a:solidFill>
                  <a:srgbClr val="336666"/>
                </a:solidFill>
                <a:latin typeface="Maiandra GD" panose="020E0502030308020204" pitchFamily="34" charset="0"/>
              </a:rPr>
              <a:t>Analysis and visualization</a:t>
            </a:r>
          </a:p>
        </p:txBody>
      </p:sp>
      <p:sp>
        <p:nvSpPr>
          <p:cNvPr id="5" name="TextBox 4">
            <a:extLst>
              <a:ext uri="{FF2B5EF4-FFF2-40B4-BE49-F238E27FC236}">
                <a16:creationId xmlns:a16="http://schemas.microsoft.com/office/drawing/2014/main" id="{6416095A-E056-1944-53D2-5C8DB5BF5D6B}"/>
              </a:ext>
            </a:extLst>
          </p:cNvPr>
          <p:cNvSpPr txBox="1"/>
          <p:nvPr/>
        </p:nvSpPr>
        <p:spPr>
          <a:xfrm>
            <a:off x="4921549" y="1047553"/>
            <a:ext cx="6563770" cy="2031325"/>
          </a:xfrm>
          <a:prstGeom prst="rect">
            <a:avLst/>
          </a:prstGeom>
          <a:noFill/>
        </p:spPr>
        <p:txBody>
          <a:bodyPr wrap="square" rtlCol="0">
            <a:spAutoFit/>
          </a:bodyPr>
          <a:lstStyle/>
          <a:p>
            <a:r>
              <a:rPr lang="en-GB" sz="1400" dirty="0">
                <a:latin typeface="Arial Rounded MT Bold" panose="020F0704030504030204" pitchFamily="34" charset="0"/>
              </a:rPr>
              <a:t>This shows the Admission Trend which has two charts: Line chat and donut chart</a:t>
            </a:r>
          </a:p>
          <a:p>
            <a:r>
              <a:rPr lang="en-GB" sz="1400" dirty="0">
                <a:latin typeface="Arial Rounded MT Bold" panose="020F0704030504030204" pitchFamily="34" charset="0"/>
              </a:rPr>
              <a:t>This line graph visualizes monthly patients admissions.</a:t>
            </a:r>
          </a:p>
          <a:p>
            <a:r>
              <a:rPr lang="en-GB" sz="1400" dirty="0">
                <a:latin typeface="Arial Rounded MT Bold" panose="020F0704030504030204" pitchFamily="34" charset="0"/>
              </a:rPr>
              <a:t>. There is a noticeable increase in admissions around July and August, peaking near 4.8k admissions.</a:t>
            </a:r>
          </a:p>
          <a:p>
            <a:r>
              <a:rPr lang="en-GB" sz="1400" dirty="0">
                <a:latin typeface="Arial Rounded MT Bold" panose="020F0704030504030204" pitchFamily="34" charset="0"/>
              </a:rPr>
              <a:t>. A slight dip is observed in February and October.</a:t>
            </a:r>
          </a:p>
          <a:p>
            <a:r>
              <a:rPr lang="en-GB" sz="1400" dirty="0">
                <a:latin typeface="Arial Rounded MT Bold" panose="020F0704030504030204" pitchFamily="34" charset="0"/>
              </a:rPr>
              <a:t>The donut chart It also shows percentage of Admission type urgent, emergency and elective.</a:t>
            </a:r>
          </a:p>
          <a:p>
            <a:r>
              <a:rPr lang="en-GB" sz="1400" dirty="0">
                <a:latin typeface="Arial Rounded MT Bold" panose="020F0704030504030204" pitchFamily="34" charset="0"/>
              </a:rPr>
              <a:t> </a:t>
            </a:r>
          </a:p>
        </p:txBody>
      </p:sp>
      <p:sp>
        <p:nvSpPr>
          <p:cNvPr id="7" name="TextBox 6">
            <a:extLst>
              <a:ext uri="{FF2B5EF4-FFF2-40B4-BE49-F238E27FC236}">
                <a16:creationId xmlns:a16="http://schemas.microsoft.com/office/drawing/2014/main" id="{84A99EDB-D3F2-9B5D-54BD-D20C78ADB02A}"/>
              </a:ext>
            </a:extLst>
          </p:cNvPr>
          <p:cNvSpPr txBox="1"/>
          <p:nvPr/>
        </p:nvSpPr>
        <p:spPr>
          <a:xfrm>
            <a:off x="235248" y="3959998"/>
            <a:ext cx="6708477" cy="2031325"/>
          </a:xfrm>
          <a:prstGeom prst="rect">
            <a:avLst/>
          </a:prstGeom>
          <a:noFill/>
        </p:spPr>
        <p:txBody>
          <a:bodyPr wrap="square" rtlCol="0">
            <a:spAutoFit/>
          </a:bodyPr>
          <a:lstStyle/>
          <a:p>
            <a:r>
              <a:rPr lang="en-GB" sz="1400" dirty="0">
                <a:latin typeface="Arial Rounded MT Bold" panose="020F0704030504030204" pitchFamily="34" charset="0"/>
              </a:rPr>
              <a:t>This distribution tree diagram shows patients count breakdown across.</a:t>
            </a:r>
          </a:p>
          <a:p>
            <a:r>
              <a:rPr lang="en-GB" sz="1400" dirty="0">
                <a:latin typeface="Arial Rounded MT Bold" panose="020F0704030504030204" pitchFamily="34" charset="0"/>
              </a:rPr>
              <a:t>Gender, Age Groups, Medical Condition, Test Result,</a:t>
            </a:r>
            <a:r>
              <a:rPr lang="en-GB" sz="1400" b="1" dirty="0">
                <a:latin typeface="Arial Rounded MT Bold" panose="020F0704030504030204" pitchFamily="34" charset="0"/>
              </a:rPr>
              <a:t> </a:t>
            </a:r>
            <a:r>
              <a:rPr lang="en-GB" sz="1400" dirty="0">
                <a:latin typeface="Arial Rounded MT Bold" panose="020F0704030504030204" pitchFamily="34" charset="0"/>
              </a:rPr>
              <a:t>Admission Type. </a:t>
            </a:r>
          </a:p>
          <a:p>
            <a:endParaRPr lang="en-GB" sz="1400" dirty="0">
              <a:latin typeface="Arial Rounded MT Bold" panose="020F0704030504030204" pitchFamily="34" charset="0"/>
            </a:endParaRPr>
          </a:p>
          <a:p>
            <a:r>
              <a:rPr lang="en-GB" sz="1400" dirty="0">
                <a:latin typeface="Arial Rounded MT Bold" panose="020F0704030504030204" pitchFamily="34" charset="0"/>
              </a:rPr>
              <a:t>For instance the Male Patients were 27,466 total; the Old age group has the highest count (12,170). Arthritis Cases: in males are 2,063. Among Arthritis patients, 687 had normal results, while 668 had abnormal results. The majority of arthritis patients with abnormal results were admitted through urgent routes (239 patients). </a:t>
            </a:r>
          </a:p>
          <a:p>
            <a:r>
              <a:rPr lang="en-GB" sz="1400" dirty="0">
                <a:latin typeface="Arial Rounded MT Bold" panose="020F0704030504030204" pitchFamily="34" charset="0"/>
              </a:rPr>
              <a:t> </a:t>
            </a:r>
          </a:p>
        </p:txBody>
      </p:sp>
    </p:spTree>
    <p:extLst>
      <p:ext uri="{BB962C8B-B14F-4D97-AF65-F5344CB8AC3E}">
        <p14:creationId xmlns:p14="http://schemas.microsoft.com/office/powerpoint/2010/main" val="227259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D5EA440-0823-4D18-FD41-2F173FAD37CA}"/>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dirty="0"/>
          </a:p>
        </p:txBody>
      </p:sp>
      <p:pic>
        <p:nvPicPr>
          <p:cNvPr id="3" name="Picture 2">
            <a:extLst>
              <a:ext uri="{FF2B5EF4-FFF2-40B4-BE49-F238E27FC236}">
                <a16:creationId xmlns:a16="http://schemas.microsoft.com/office/drawing/2014/main" id="{98AEDA4E-8BB0-9D34-1F74-EFFE9FA52B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026" y="1089161"/>
            <a:ext cx="4296174" cy="2300433"/>
          </a:xfrm>
          <a:prstGeom prst="rect">
            <a:avLst/>
          </a:prstGeom>
        </p:spPr>
      </p:pic>
      <p:pic>
        <p:nvPicPr>
          <p:cNvPr id="6" name="Picture 5">
            <a:extLst>
              <a:ext uri="{FF2B5EF4-FFF2-40B4-BE49-F238E27FC236}">
                <a16:creationId xmlns:a16="http://schemas.microsoft.com/office/drawing/2014/main" id="{79E88545-9935-DA5A-E43F-8527605CE5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5675" y="3833150"/>
            <a:ext cx="4267575" cy="2349123"/>
          </a:xfrm>
          <a:prstGeom prst="rect">
            <a:avLst/>
          </a:prstGeom>
        </p:spPr>
      </p:pic>
      <p:sp>
        <p:nvSpPr>
          <p:cNvPr id="2" name="TextBox 1">
            <a:extLst>
              <a:ext uri="{FF2B5EF4-FFF2-40B4-BE49-F238E27FC236}">
                <a16:creationId xmlns:a16="http://schemas.microsoft.com/office/drawing/2014/main" id="{0C9D5038-7B58-02CF-8585-6DB409B96F83}"/>
              </a:ext>
            </a:extLst>
          </p:cNvPr>
          <p:cNvSpPr txBox="1"/>
          <p:nvPr/>
        </p:nvSpPr>
        <p:spPr>
          <a:xfrm>
            <a:off x="3313567" y="-270110"/>
            <a:ext cx="7333307" cy="1136786"/>
          </a:xfrm>
          <a:prstGeom prst="rect">
            <a:avLst/>
          </a:prstGeom>
          <a:noFill/>
        </p:spPr>
        <p:txBody>
          <a:bodyPr wrap="square">
            <a:spAutoFit/>
          </a:bodyPr>
          <a:lstStyle/>
          <a:p>
            <a:pPr>
              <a:lnSpc>
                <a:spcPct val="200000"/>
              </a:lnSpc>
            </a:pPr>
            <a:r>
              <a:rPr lang="en-US" sz="4000" dirty="0">
                <a:solidFill>
                  <a:srgbClr val="336666"/>
                </a:solidFill>
                <a:latin typeface="Maiandra GD" panose="020E0502030308020204" pitchFamily="34" charset="0"/>
              </a:rPr>
              <a:t>Analysis and visualization</a:t>
            </a:r>
          </a:p>
        </p:txBody>
      </p:sp>
      <p:sp>
        <p:nvSpPr>
          <p:cNvPr id="4" name="TextBox 3">
            <a:extLst>
              <a:ext uri="{FF2B5EF4-FFF2-40B4-BE49-F238E27FC236}">
                <a16:creationId xmlns:a16="http://schemas.microsoft.com/office/drawing/2014/main" id="{AEE4A0D4-B8E9-EEE4-784F-A0C8AC74AEA5}"/>
              </a:ext>
            </a:extLst>
          </p:cNvPr>
          <p:cNvSpPr txBox="1"/>
          <p:nvPr/>
        </p:nvSpPr>
        <p:spPr>
          <a:xfrm flipH="1">
            <a:off x="4738488" y="1267616"/>
            <a:ext cx="5134374" cy="1600438"/>
          </a:xfrm>
          <a:prstGeom prst="rect">
            <a:avLst/>
          </a:prstGeom>
          <a:noFill/>
        </p:spPr>
        <p:txBody>
          <a:bodyPr wrap="square" rtlCol="0">
            <a:spAutoFit/>
          </a:bodyPr>
          <a:lstStyle/>
          <a:p>
            <a:r>
              <a:rPr lang="en-GB" sz="1400" dirty="0">
                <a:latin typeface="Arial Rounded MT Bold" panose="020F0704030504030204" pitchFamily="34" charset="0"/>
              </a:rPr>
              <a:t>This shows the major Key metrics </a:t>
            </a:r>
          </a:p>
          <a:p>
            <a:endParaRPr lang="en-GB" sz="1400" dirty="0">
              <a:latin typeface="Arial Rounded MT Bold" panose="020F0704030504030204" pitchFamily="34" charset="0"/>
            </a:endParaRPr>
          </a:p>
          <a:p>
            <a:r>
              <a:rPr lang="en-GB" sz="1400" dirty="0">
                <a:latin typeface="Arial Rounded MT Bold" panose="020F0704030504030204" pitchFamily="34" charset="0"/>
              </a:rPr>
              <a:t>Total Admission: 54,966</a:t>
            </a:r>
          </a:p>
          <a:p>
            <a:r>
              <a:rPr lang="en-GB" sz="1400" dirty="0">
                <a:latin typeface="Arial Rounded MT Bold" panose="020F0704030504030204" pitchFamily="34" charset="0"/>
              </a:rPr>
              <a:t>Total Billing: $1.4 billion</a:t>
            </a:r>
          </a:p>
          <a:p>
            <a:r>
              <a:rPr lang="en-GB" sz="1400" dirty="0">
                <a:latin typeface="Arial Rounded MT Bold" panose="020F0704030504030204" pitchFamily="34" charset="0"/>
              </a:rPr>
              <a:t>Total Doctors: 40,341</a:t>
            </a:r>
          </a:p>
          <a:p>
            <a:r>
              <a:rPr lang="en-GB" sz="1400" dirty="0">
                <a:latin typeface="Arial Rounded MT Bold" panose="020F0704030504030204" pitchFamily="34" charset="0"/>
              </a:rPr>
              <a:t>Average Age: 51.54 years</a:t>
            </a:r>
          </a:p>
          <a:p>
            <a:endParaRPr lang="en-US" sz="1400" dirty="0">
              <a:latin typeface="Arial Rounded MT Bold" panose="020F0704030504030204" pitchFamily="34" charset="0"/>
            </a:endParaRPr>
          </a:p>
        </p:txBody>
      </p:sp>
      <p:sp>
        <p:nvSpPr>
          <p:cNvPr id="5" name="TextBox 4">
            <a:extLst>
              <a:ext uri="{FF2B5EF4-FFF2-40B4-BE49-F238E27FC236}">
                <a16:creationId xmlns:a16="http://schemas.microsoft.com/office/drawing/2014/main" id="{85A49CEA-CC16-7EBF-B5FB-DE41A5FF33AD}"/>
              </a:ext>
            </a:extLst>
          </p:cNvPr>
          <p:cNvSpPr txBox="1"/>
          <p:nvPr/>
        </p:nvSpPr>
        <p:spPr>
          <a:xfrm>
            <a:off x="723900" y="3946951"/>
            <a:ext cx="6381750" cy="2677656"/>
          </a:xfrm>
          <a:prstGeom prst="rect">
            <a:avLst/>
          </a:prstGeom>
          <a:noFill/>
        </p:spPr>
        <p:txBody>
          <a:bodyPr wrap="square" rtlCol="0">
            <a:spAutoFit/>
          </a:bodyPr>
          <a:lstStyle/>
          <a:p>
            <a:r>
              <a:rPr lang="en-GB" sz="1400" dirty="0">
                <a:latin typeface="Arial Rounded MT Bold" panose="020F0704030504030204" pitchFamily="34" charset="0"/>
              </a:rPr>
              <a:t>This image contains two charts first is the  donut chart showing Gender distribution of the patient Female:49.98% while the Male:50.02%</a:t>
            </a:r>
          </a:p>
          <a:p>
            <a:endParaRPr lang="en-GB" sz="1400" dirty="0">
              <a:latin typeface="Arial Rounded MT Bold" panose="020F0704030504030204" pitchFamily="34" charset="0"/>
            </a:endParaRPr>
          </a:p>
          <a:p>
            <a:r>
              <a:rPr lang="en-GB" sz="1400" dirty="0">
                <a:latin typeface="Arial Rounded MT Bold" panose="020F0704030504030204" pitchFamily="34" charset="0"/>
              </a:rPr>
              <a:t>The bubble chart showing the Age Group Distribution</a:t>
            </a:r>
          </a:p>
          <a:p>
            <a:r>
              <a:rPr lang="en-GB" sz="1400" dirty="0">
                <a:latin typeface="Arial Rounded MT Bold" panose="020F0704030504030204" pitchFamily="34" charset="0"/>
              </a:rPr>
              <a:t>. Old: 24.32k</a:t>
            </a:r>
          </a:p>
          <a:p>
            <a:r>
              <a:rPr lang="en-GB" sz="1400" dirty="0">
                <a:latin typeface="Arial Rounded MT Bold" panose="020F0704030504030204" pitchFamily="34" charset="0"/>
              </a:rPr>
              <a:t>. Adult: 16.24k</a:t>
            </a:r>
          </a:p>
          <a:p>
            <a:r>
              <a:rPr lang="en-GB" sz="1400" dirty="0">
                <a:latin typeface="Arial Rounded MT Bold" panose="020F0704030504030204" pitchFamily="34" charset="0"/>
              </a:rPr>
              <a:t>. Young Adult: 13.52k</a:t>
            </a:r>
          </a:p>
          <a:p>
            <a:endParaRPr lang="en-GB" sz="1400" dirty="0">
              <a:latin typeface="Arial Rounded MT Bold" panose="020F0704030504030204" pitchFamily="34" charset="0"/>
            </a:endParaRPr>
          </a:p>
          <a:p>
            <a:r>
              <a:rPr lang="en-GB" sz="1400" dirty="0">
                <a:latin typeface="Arial Rounded MT Bold" panose="020F0704030504030204" pitchFamily="34" charset="0"/>
              </a:rPr>
              <a:t>The older age group makes up the largest share of patients, which means that healthcare needs rise with age.</a:t>
            </a:r>
          </a:p>
          <a:p>
            <a:endParaRPr lang="en-GB" sz="1400" b="1" dirty="0">
              <a:latin typeface="Arial Rounded MT Bold" panose="020F0704030504030204" pitchFamily="34" charset="0"/>
            </a:endParaRPr>
          </a:p>
          <a:p>
            <a:endParaRPr lang="en-GB" sz="1400" dirty="0">
              <a:latin typeface="Arial Rounded MT Bold" panose="020F0704030504030204" pitchFamily="34" charset="0"/>
            </a:endParaRPr>
          </a:p>
        </p:txBody>
      </p:sp>
    </p:spTree>
    <p:extLst>
      <p:ext uri="{BB962C8B-B14F-4D97-AF65-F5344CB8AC3E}">
        <p14:creationId xmlns:p14="http://schemas.microsoft.com/office/powerpoint/2010/main" val="1828459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65EA55-0985-5B3E-70B2-75CCB48F2FDB}"/>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8" name="Picture 7">
            <a:extLst>
              <a:ext uri="{FF2B5EF4-FFF2-40B4-BE49-F238E27FC236}">
                <a16:creationId xmlns:a16="http://schemas.microsoft.com/office/drawing/2014/main" id="{75E0D59A-14FF-93C7-F8C9-5E0E9DE85E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731" y="1271416"/>
            <a:ext cx="4650775" cy="2167115"/>
          </a:xfrm>
          <a:prstGeom prst="rect">
            <a:avLst/>
          </a:prstGeom>
        </p:spPr>
      </p:pic>
      <p:pic>
        <p:nvPicPr>
          <p:cNvPr id="10" name="Picture 9">
            <a:extLst>
              <a:ext uri="{FF2B5EF4-FFF2-40B4-BE49-F238E27FC236}">
                <a16:creationId xmlns:a16="http://schemas.microsoft.com/office/drawing/2014/main" id="{D9E0AA00-AD82-5E88-088A-BB48C435A6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000" y="3858238"/>
            <a:ext cx="4800849" cy="2316431"/>
          </a:xfrm>
          <a:prstGeom prst="rect">
            <a:avLst/>
          </a:prstGeom>
        </p:spPr>
      </p:pic>
      <p:sp>
        <p:nvSpPr>
          <p:cNvPr id="2" name="TextBox 1">
            <a:extLst>
              <a:ext uri="{FF2B5EF4-FFF2-40B4-BE49-F238E27FC236}">
                <a16:creationId xmlns:a16="http://schemas.microsoft.com/office/drawing/2014/main" id="{B2FD3EE2-E8C6-BAE6-66AF-A56C7F312170}"/>
              </a:ext>
            </a:extLst>
          </p:cNvPr>
          <p:cNvSpPr txBox="1"/>
          <p:nvPr/>
        </p:nvSpPr>
        <p:spPr>
          <a:xfrm>
            <a:off x="3304513" y="-129606"/>
            <a:ext cx="7125079" cy="1136786"/>
          </a:xfrm>
          <a:prstGeom prst="rect">
            <a:avLst/>
          </a:prstGeom>
          <a:noFill/>
        </p:spPr>
        <p:txBody>
          <a:bodyPr wrap="square">
            <a:spAutoFit/>
          </a:bodyPr>
          <a:lstStyle/>
          <a:p>
            <a:pPr>
              <a:lnSpc>
                <a:spcPct val="200000"/>
              </a:lnSpc>
            </a:pPr>
            <a:r>
              <a:rPr lang="en-US" sz="4000" dirty="0">
                <a:solidFill>
                  <a:srgbClr val="336666"/>
                </a:solidFill>
                <a:latin typeface="Maiandra GD" panose="020E0502030308020204" pitchFamily="34" charset="0"/>
              </a:rPr>
              <a:t>Analysis and visualization</a:t>
            </a:r>
          </a:p>
        </p:txBody>
      </p:sp>
      <p:sp>
        <p:nvSpPr>
          <p:cNvPr id="3" name="TextBox 2">
            <a:extLst>
              <a:ext uri="{FF2B5EF4-FFF2-40B4-BE49-F238E27FC236}">
                <a16:creationId xmlns:a16="http://schemas.microsoft.com/office/drawing/2014/main" id="{18F80179-D4CD-CF7A-FC67-AFAE606C7F7A}"/>
              </a:ext>
            </a:extLst>
          </p:cNvPr>
          <p:cNvSpPr txBox="1"/>
          <p:nvPr/>
        </p:nvSpPr>
        <p:spPr>
          <a:xfrm>
            <a:off x="4926237" y="1349926"/>
            <a:ext cx="5476591" cy="1384995"/>
          </a:xfrm>
          <a:prstGeom prst="rect">
            <a:avLst/>
          </a:prstGeom>
          <a:noFill/>
        </p:spPr>
        <p:txBody>
          <a:bodyPr wrap="square" rtlCol="0">
            <a:spAutoFit/>
          </a:bodyPr>
          <a:lstStyle/>
          <a:p>
            <a:endParaRPr lang="en-GB" sz="1400" dirty="0">
              <a:latin typeface="Arial Rounded MT Bold" panose="020F0704030504030204" pitchFamily="34" charset="0"/>
            </a:endParaRPr>
          </a:p>
          <a:p>
            <a:r>
              <a:rPr lang="en-GB" sz="1400" dirty="0">
                <a:latin typeface="Arial Rounded MT Bold" panose="020F0704030504030204" pitchFamily="34" charset="0"/>
              </a:rPr>
              <a:t>Shows monthly trends in patients length of hospital stay.</a:t>
            </a:r>
          </a:p>
          <a:p>
            <a:r>
              <a:rPr lang="en-GB" sz="1400" b="1" dirty="0">
                <a:latin typeface="Arial Rounded MT Bold" panose="020F0704030504030204" pitchFamily="34" charset="0"/>
              </a:rPr>
              <a:t>.</a:t>
            </a:r>
            <a:r>
              <a:rPr lang="en-GB" sz="1400" dirty="0">
                <a:latin typeface="Arial Rounded MT Bold" panose="020F0704030504030204" pitchFamily="34" charset="0"/>
              </a:rPr>
              <a:t> Highest length of stay observed in August (</a:t>
            </a:r>
            <a:r>
              <a:rPr lang="en-GB" sz="1400" b="1" dirty="0">
                <a:latin typeface="Arial Rounded MT Bold" panose="020F0704030504030204" pitchFamily="34" charset="0"/>
              </a:rPr>
              <a:t>75k).</a:t>
            </a:r>
          </a:p>
          <a:p>
            <a:r>
              <a:rPr lang="en-GB" sz="1400" b="1" dirty="0">
                <a:latin typeface="Arial Rounded MT Bold" panose="020F0704030504030204" pitchFamily="34" charset="0"/>
              </a:rPr>
              <a:t>. </a:t>
            </a:r>
            <a:r>
              <a:rPr lang="en-GB" sz="1400" dirty="0">
                <a:latin typeface="Arial Rounded MT Bold" panose="020F0704030504030204" pitchFamily="34" charset="0"/>
              </a:rPr>
              <a:t>Lowest observed in February </a:t>
            </a:r>
            <a:r>
              <a:rPr lang="en-GB" sz="1400" b="1" dirty="0">
                <a:latin typeface="Arial Rounded MT Bold" panose="020F0704030504030204" pitchFamily="34" charset="0"/>
              </a:rPr>
              <a:t>(65k).</a:t>
            </a:r>
          </a:p>
          <a:p>
            <a:r>
              <a:rPr lang="en-GB" sz="1400" b="1" dirty="0">
                <a:latin typeface="Arial Rounded MT Bold" panose="020F0704030504030204" pitchFamily="34" charset="0"/>
              </a:rPr>
              <a:t>.</a:t>
            </a:r>
            <a:r>
              <a:rPr lang="en-GB" sz="1400" dirty="0">
                <a:latin typeface="Arial Rounded MT Bold" panose="020F0704030504030204" pitchFamily="34" charset="0"/>
              </a:rPr>
              <a:t> There are visible dips and rises, but the trend remains within a </a:t>
            </a:r>
            <a:r>
              <a:rPr lang="en-GB" sz="1400" b="1" dirty="0">
                <a:latin typeface="Arial Rounded MT Bold" panose="020F0704030504030204" pitchFamily="34" charset="0"/>
              </a:rPr>
              <a:t>65k-75k range</a:t>
            </a:r>
          </a:p>
        </p:txBody>
      </p:sp>
      <p:sp>
        <p:nvSpPr>
          <p:cNvPr id="4" name="TextBox 3">
            <a:extLst>
              <a:ext uri="{FF2B5EF4-FFF2-40B4-BE49-F238E27FC236}">
                <a16:creationId xmlns:a16="http://schemas.microsoft.com/office/drawing/2014/main" id="{539AE1DF-90CE-72E7-AE9F-55F7F2B5AF9E}"/>
              </a:ext>
            </a:extLst>
          </p:cNvPr>
          <p:cNvSpPr txBox="1"/>
          <p:nvPr/>
        </p:nvSpPr>
        <p:spPr>
          <a:xfrm>
            <a:off x="838200" y="4143344"/>
            <a:ext cx="5838825" cy="2031325"/>
          </a:xfrm>
          <a:prstGeom prst="rect">
            <a:avLst/>
          </a:prstGeom>
          <a:noFill/>
        </p:spPr>
        <p:txBody>
          <a:bodyPr wrap="square" rtlCol="0">
            <a:spAutoFit/>
          </a:bodyPr>
          <a:lstStyle/>
          <a:p>
            <a:r>
              <a:rPr lang="en-GB" sz="1400" dirty="0">
                <a:latin typeface="Arial Rounded MT Bold" panose="020F0704030504030204" pitchFamily="34" charset="0"/>
              </a:rPr>
              <a:t>The bar chart shows the Medical Condition distribution of the patients</a:t>
            </a:r>
          </a:p>
          <a:p>
            <a:r>
              <a:rPr lang="en-GB" sz="1400" dirty="0">
                <a:latin typeface="Arial Rounded MT Bold" panose="020F0704030504030204" pitchFamily="34" charset="0"/>
              </a:rPr>
              <a:t>Top conditions by patients count:</a:t>
            </a:r>
          </a:p>
          <a:p>
            <a:r>
              <a:rPr lang="en-GB" sz="1400" b="1" dirty="0">
                <a:latin typeface="Arial Rounded MT Bold" panose="020F0704030504030204" pitchFamily="34" charset="0"/>
              </a:rPr>
              <a:t>. Diabetes: </a:t>
            </a:r>
            <a:r>
              <a:rPr lang="en-GB" sz="1400" dirty="0">
                <a:latin typeface="Arial Rounded MT Bold" panose="020F0704030504030204" pitchFamily="34" charset="0"/>
              </a:rPr>
              <a:t>9,216</a:t>
            </a:r>
            <a:r>
              <a:rPr lang="en-GB" sz="1400" b="1" dirty="0">
                <a:latin typeface="Arial Rounded MT Bold" panose="020F0704030504030204" pitchFamily="34" charset="0"/>
              </a:rPr>
              <a:t> being the highest while </a:t>
            </a:r>
          </a:p>
          <a:p>
            <a:r>
              <a:rPr lang="en-GB" sz="1400" b="1" dirty="0">
                <a:latin typeface="Arial Rounded MT Bold" panose="020F0704030504030204" pitchFamily="34" charset="0"/>
              </a:rPr>
              <a:t>. Arthritis: </a:t>
            </a:r>
            <a:r>
              <a:rPr lang="en-GB" sz="1400" dirty="0">
                <a:latin typeface="Arial Rounded MT Bold" panose="020F0704030504030204" pitchFamily="34" charset="0"/>
              </a:rPr>
              <a:t>9,218</a:t>
            </a:r>
          </a:p>
          <a:p>
            <a:r>
              <a:rPr lang="en-GB" sz="1400" b="1" dirty="0">
                <a:latin typeface="Arial Rounded MT Bold" panose="020F0704030504030204" pitchFamily="34" charset="0"/>
              </a:rPr>
              <a:t>. Hypertension: </a:t>
            </a:r>
            <a:r>
              <a:rPr lang="en-GB" sz="1400" dirty="0">
                <a:latin typeface="Arial Rounded MT Bold" panose="020F0704030504030204" pitchFamily="34" charset="0"/>
              </a:rPr>
              <a:t>9,151</a:t>
            </a:r>
          </a:p>
          <a:p>
            <a:r>
              <a:rPr lang="en-GB" sz="1400" b="1" dirty="0">
                <a:latin typeface="Arial Rounded MT Bold" panose="020F0704030504030204" pitchFamily="34" charset="0"/>
              </a:rPr>
              <a:t>. Obesity: </a:t>
            </a:r>
            <a:r>
              <a:rPr lang="en-GB" sz="1400" dirty="0">
                <a:latin typeface="Arial Rounded MT Bold" panose="020F0704030504030204" pitchFamily="34" charset="0"/>
              </a:rPr>
              <a:t>9,146</a:t>
            </a:r>
          </a:p>
          <a:p>
            <a:r>
              <a:rPr lang="en-GB" sz="1400" b="1" dirty="0">
                <a:latin typeface="Arial Rounded MT Bold" panose="020F0704030504030204" pitchFamily="34" charset="0"/>
              </a:rPr>
              <a:t>. Cancer: </a:t>
            </a:r>
            <a:r>
              <a:rPr lang="en-GB" sz="1400" dirty="0">
                <a:latin typeface="Arial Rounded MT Bold" panose="020F0704030504030204" pitchFamily="34" charset="0"/>
              </a:rPr>
              <a:t>9,140</a:t>
            </a:r>
          </a:p>
          <a:p>
            <a:r>
              <a:rPr lang="en-GB" sz="1400" b="1" dirty="0">
                <a:latin typeface="Arial Rounded MT Bold" panose="020F0704030504030204" pitchFamily="34" charset="0"/>
              </a:rPr>
              <a:t>. Asthma: </a:t>
            </a:r>
            <a:r>
              <a:rPr lang="en-GB" sz="1400" dirty="0">
                <a:latin typeface="Arial Rounded MT Bold" panose="020F0704030504030204" pitchFamily="34" charset="0"/>
              </a:rPr>
              <a:t>9,095</a:t>
            </a:r>
          </a:p>
        </p:txBody>
      </p:sp>
    </p:spTree>
    <p:extLst>
      <p:ext uri="{BB962C8B-B14F-4D97-AF65-F5344CB8AC3E}">
        <p14:creationId xmlns:p14="http://schemas.microsoft.com/office/powerpoint/2010/main" val="1985434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173E0F6-8C27-459F-0E74-0267C2EA64BC}"/>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3" name="Picture 2">
            <a:extLst>
              <a:ext uri="{FF2B5EF4-FFF2-40B4-BE49-F238E27FC236}">
                <a16:creationId xmlns:a16="http://schemas.microsoft.com/office/drawing/2014/main" id="{C76700D6-B4E4-E5EB-6B46-D5DD836B6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534" y="1116564"/>
            <a:ext cx="4282054" cy="4986722"/>
          </a:xfrm>
          <a:prstGeom prst="rect">
            <a:avLst/>
          </a:prstGeom>
        </p:spPr>
      </p:pic>
      <p:sp>
        <p:nvSpPr>
          <p:cNvPr id="2" name="TextBox 1">
            <a:extLst>
              <a:ext uri="{FF2B5EF4-FFF2-40B4-BE49-F238E27FC236}">
                <a16:creationId xmlns:a16="http://schemas.microsoft.com/office/drawing/2014/main" id="{B3C412C3-8865-15ED-E244-1DE68901C028}"/>
              </a:ext>
            </a:extLst>
          </p:cNvPr>
          <p:cNvSpPr txBox="1"/>
          <p:nvPr/>
        </p:nvSpPr>
        <p:spPr>
          <a:xfrm>
            <a:off x="3313567" y="-270110"/>
            <a:ext cx="7333307" cy="1136786"/>
          </a:xfrm>
          <a:prstGeom prst="rect">
            <a:avLst/>
          </a:prstGeom>
          <a:noFill/>
        </p:spPr>
        <p:txBody>
          <a:bodyPr wrap="square">
            <a:spAutoFit/>
          </a:bodyPr>
          <a:lstStyle/>
          <a:p>
            <a:pPr>
              <a:lnSpc>
                <a:spcPct val="200000"/>
              </a:lnSpc>
            </a:pPr>
            <a:r>
              <a:rPr lang="en-US" sz="4000" dirty="0">
                <a:solidFill>
                  <a:srgbClr val="336666"/>
                </a:solidFill>
                <a:latin typeface="Maiandra GD" panose="020E0502030308020204" pitchFamily="34" charset="0"/>
              </a:rPr>
              <a:t>Analysis and visualization</a:t>
            </a:r>
          </a:p>
        </p:txBody>
      </p:sp>
      <p:sp>
        <p:nvSpPr>
          <p:cNvPr id="4" name="TextBox 3">
            <a:extLst>
              <a:ext uri="{FF2B5EF4-FFF2-40B4-BE49-F238E27FC236}">
                <a16:creationId xmlns:a16="http://schemas.microsoft.com/office/drawing/2014/main" id="{D25A3969-BE4F-9DCC-93F4-B56ABAD99B1B}"/>
              </a:ext>
            </a:extLst>
          </p:cNvPr>
          <p:cNvSpPr txBox="1"/>
          <p:nvPr/>
        </p:nvSpPr>
        <p:spPr>
          <a:xfrm>
            <a:off x="5061121" y="1532695"/>
            <a:ext cx="5483054" cy="954107"/>
          </a:xfrm>
          <a:prstGeom prst="rect">
            <a:avLst/>
          </a:prstGeom>
          <a:noFill/>
        </p:spPr>
        <p:txBody>
          <a:bodyPr wrap="square" rtlCol="0">
            <a:spAutoFit/>
          </a:bodyPr>
          <a:lstStyle/>
          <a:p>
            <a:r>
              <a:rPr lang="en-GB" sz="1400" b="1" dirty="0">
                <a:latin typeface="Arial Rounded MT Bold" panose="020F0704030504030204" pitchFamily="34" charset="0"/>
              </a:rPr>
              <a:t>This show the key metric for hospital and doctors overview.</a:t>
            </a:r>
          </a:p>
          <a:p>
            <a:endParaRPr lang="en-GB" sz="1400" b="1" dirty="0">
              <a:latin typeface="Arial Rounded MT Bold" panose="020F0704030504030204" pitchFamily="34" charset="0"/>
            </a:endParaRPr>
          </a:p>
          <a:p>
            <a:r>
              <a:rPr lang="en-GB" sz="1400" b="1" dirty="0">
                <a:latin typeface="Arial Rounded MT Bold" panose="020F0704030504030204" pitchFamily="34" charset="0"/>
              </a:rPr>
              <a:t>Hospitals covered: 39,876</a:t>
            </a:r>
          </a:p>
          <a:p>
            <a:r>
              <a:rPr lang="en-GB" sz="1400" b="1" dirty="0">
                <a:latin typeface="Arial Rounded MT Bold" panose="020F0704030504030204" pitchFamily="34" charset="0"/>
              </a:rPr>
              <a:t>Doctors: 40,341</a:t>
            </a:r>
            <a:endParaRPr lang="en-US" sz="1400" b="1" dirty="0">
              <a:latin typeface="Arial Rounded MT Bold" panose="020F0704030504030204" pitchFamily="34" charset="0"/>
            </a:endParaRPr>
          </a:p>
        </p:txBody>
      </p:sp>
      <p:sp>
        <p:nvSpPr>
          <p:cNvPr id="5" name="TextBox 4">
            <a:extLst>
              <a:ext uri="{FF2B5EF4-FFF2-40B4-BE49-F238E27FC236}">
                <a16:creationId xmlns:a16="http://schemas.microsoft.com/office/drawing/2014/main" id="{5ECB527E-17CC-490F-173F-84CEE11526D1}"/>
              </a:ext>
            </a:extLst>
          </p:cNvPr>
          <p:cNvSpPr txBox="1"/>
          <p:nvPr/>
        </p:nvSpPr>
        <p:spPr>
          <a:xfrm>
            <a:off x="4838528" y="4048032"/>
            <a:ext cx="5363772" cy="1815882"/>
          </a:xfrm>
          <a:prstGeom prst="rect">
            <a:avLst/>
          </a:prstGeom>
          <a:noFill/>
        </p:spPr>
        <p:txBody>
          <a:bodyPr wrap="square" rtlCol="0">
            <a:spAutoFit/>
          </a:bodyPr>
          <a:lstStyle/>
          <a:p>
            <a:r>
              <a:rPr lang="en-GB" sz="1400" b="1" dirty="0">
                <a:latin typeface="Arial Rounded MT Bold" panose="020F0704030504030204" pitchFamily="34" charset="0"/>
              </a:rPr>
              <a:t>The bar charts shows top 10 hospitals by </a:t>
            </a:r>
            <a:r>
              <a:rPr lang="en-GB" sz="1400" dirty="0">
                <a:latin typeface="Arial Rounded MT Bold" panose="020F0704030504030204" pitchFamily="34" charset="0"/>
              </a:rPr>
              <a:t> </a:t>
            </a:r>
            <a:r>
              <a:rPr lang="en-GB" sz="1400" b="1" dirty="0">
                <a:latin typeface="Arial Rounded MT Bold" panose="020F0704030504030204" pitchFamily="34" charset="0"/>
              </a:rPr>
              <a:t>Total Admission </a:t>
            </a:r>
            <a:r>
              <a:rPr lang="en-GB" sz="1400" dirty="0">
                <a:latin typeface="Arial Rounded MT Bold" panose="020F0704030504030204" pitchFamily="34" charset="0"/>
              </a:rPr>
              <a:t>(light blue) and </a:t>
            </a:r>
            <a:r>
              <a:rPr lang="en-GB" sz="1400" b="1" dirty="0">
                <a:latin typeface="Arial Rounded MT Bold" panose="020F0704030504030204" pitchFamily="34" charset="0"/>
              </a:rPr>
              <a:t>Billing Amount</a:t>
            </a:r>
            <a:r>
              <a:rPr lang="en-GB" sz="1400" dirty="0">
                <a:latin typeface="Arial Rounded MT Bold" panose="020F0704030504030204" pitchFamily="34" charset="0"/>
              </a:rPr>
              <a:t> (dark blue)</a:t>
            </a:r>
          </a:p>
          <a:p>
            <a:endParaRPr lang="en-GB" sz="1400" b="1" dirty="0">
              <a:latin typeface="Arial Rounded MT Bold" panose="020F0704030504030204" pitchFamily="34" charset="0"/>
            </a:endParaRPr>
          </a:p>
          <a:p>
            <a:r>
              <a:rPr lang="en-GB" sz="1400" b="1" dirty="0">
                <a:latin typeface="Arial Rounded MT Bold" panose="020F0704030504030204" pitchFamily="34" charset="0"/>
              </a:rPr>
              <a:t>Top Billing Hospitals:</a:t>
            </a:r>
          </a:p>
          <a:p>
            <a:r>
              <a:rPr lang="en-GB" sz="1400" b="1" dirty="0">
                <a:latin typeface="Arial Rounded MT Bold" panose="020F0704030504030204" pitchFamily="34" charset="0"/>
              </a:rPr>
              <a:t>. Smith Ltd </a:t>
            </a:r>
            <a:r>
              <a:rPr lang="en-GB" sz="1400" dirty="0">
                <a:latin typeface="Arial Rounded MT Bold" panose="020F0704030504030204" pitchFamily="34" charset="0"/>
              </a:rPr>
              <a:t>-$1.08m</a:t>
            </a:r>
          </a:p>
          <a:p>
            <a:r>
              <a:rPr lang="en-GB" sz="1400" b="1" dirty="0">
                <a:latin typeface="Arial Rounded MT Bold" panose="020F0704030504030204" pitchFamily="34" charset="0"/>
              </a:rPr>
              <a:t>. LLC Smith </a:t>
            </a:r>
            <a:r>
              <a:rPr lang="en-GB" sz="1400" dirty="0">
                <a:latin typeface="Arial Rounded MT Bold" panose="020F0704030504030204" pitchFamily="34" charset="0"/>
              </a:rPr>
              <a:t>-$1.03m</a:t>
            </a:r>
          </a:p>
          <a:p>
            <a:r>
              <a:rPr lang="en-GB" sz="1400" b="1" dirty="0">
                <a:latin typeface="Arial Rounded MT Bold" panose="020F0704030504030204" pitchFamily="34" charset="0"/>
              </a:rPr>
              <a:t>. Smith Group </a:t>
            </a:r>
            <a:r>
              <a:rPr lang="en-GB" sz="1400" dirty="0">
                <a:latin typeface="Arial Rounded MT Bold" panose="020F0704030504030204" pitchFamily="34" charset="0"/>
              </a:rPr>
              <a:t>-$1.03m</a:t>
            </a:r>
          </a:p>
          <a:p>
            <a:r>
              <a:rPr lang="en-GB" sz="1400" b="1" dirty="0">
                <a:latin typeface="Arial Rounded MT Bold" panose="020F0704030504030204" pitchFamily="34" charset="0"/>
              </a:rPr>
              <a:t>. Johnson PLC </a:t>
            </a:r>
            <a:r>
              <a:rPr lang="en-GB" sz="1400" dirty="0">
                <a:latin typeface="Arial Rounded MT Bold" panose="020F0704030504030204" pitchFamily="34" charset="0"/>
              </a:rPr>
              <a:t>-$0.93m</a:t>
            </a:r>
          </a:p>
        </p:txBody>
      </p:sp>
    </p:spTree>
    <p:extLst>
      <p:ext uri="{BB962C8B-B14F-4D97-AF65-F5344CB8AC3E}">
        <p14:creationId xmlns:p14="http://schemas.microsoft.com/office/powerpoint/2010/main" val="762641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D1DF26-0A0C-0D8C-C9EF-9553BB13DFD1}"/>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2" name="Picture 1">
            <a:extLst>
              <a:ext uri="{FF2B5EF4-FFF2-40B4-BE49-F238E27FC236}">
                <a16:creationId xmlns:a16="http://schemas.microsoft.com/office/drawing/2014/main" id="{00D7FEA3-669F-569A-CE93-9A77F23E22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107" y="1014623"/>
            <a:ext cx="4348522" cy="2244534"/>
          </a:xfrm>
          <a:prstGeom prst="rect">
            <a:avLst/>
          </a:prstGeom>
        </p:spPr>
      </p:pic>
      <p:pic>
        <p:nvPicPr>
          <p:cNvPr id="3" name="Picture 2">
            <a:extLst>
              <a:ext uri="{FF2B5EF4-FFF2-40B4-BE49-F238E27FC236}">
                <a16:creationId xmlns:a16="http://schemas.microsoft.com/office/drawing/2014/main" id="{DAF29C2A-A183-6045-F50A-AB3FB0B086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7876" y="4027282"/>
            <a:ext cx="4348522" cy="2105938"/>
          </a:xfrm>
          <a:prstGeom prst="rect">
            <a:avLst/>
          </a:prstGeom>
        </p:spPr>
      </p:pic>
      <p:sp>
        <p:nvSpPr>
          <p:cNvPr id="4" name="TextBox 3">
            <a:extLst>
              <a:ext uri="{FF2B5EF4-FFF2-40B4-BE49-F238E27FC236}">
                <a16:creationId xmlns:a16="http://schemas.microsoft.com/office/drawing/2014/main" id="{01AEDCB2-0FD4-CB0C-7A71-A8ABD0C8CCCB}"/>
              </a:ext>
            </a:extLst>
          </p:cNvPr>
          <p:cNvSpPr txBox="1"/>
          <p:nvPr/>
        </p:nvSpPr>
        <p:spPr>
          <a:xfrm>
            <a:off x="3313567" y="-270110"/>
            <a:ext cx="7333307" cy="1136786"/>
          </a:xfrm>
          <a:prstGeom prst="rect">
            <a:avLst/>
          </a:prstGeom>
          <a:noFill/>
        </p:spPr>
        <p:txBody>
          <a:bodyPr wrap="square">
            <a:spAutoFit/>
          </a:bodyPr>
          <a:lstStyle/>
          <a:p>
            <a:pPr>
              <a:lnSpc>
                <a:spcPct val="200000"/>
              </a:lnSpc>
            </a:pPr>
            <a:r>
              <a:rPr lang="en-US" sz="4000" dirty="0">
                <a:solidFill>
                  <a:srgbClr val="336666"/>
                </a:solidFill>
                <a:latin typeface="Maiandra GD" panose="020E0502030308020204" pitchFamily="34" charset="0"/>
              </a:rPr>
              <a:t>Analysis and visualization</a:t>
            </a:r>
          </a:p>
        </p:txBody>
      </p:sp>
      <p:sp>
        <p:nvSpPr>
          <p:cNvPr id="5" name="TextBox 4">
            <a:extLst>
              <a:ext uri="{FF2B5EF4-FFF2-40B4-BE49-F238E27FC236}">
                <a16:creationId xmlns:a16="http://schemas.microsoft.com/office/drawing/2014/main" id="{94DDD403-7A2F-FC56-2FE3-47E3834B9793}"/>
              </a:ext>
            </a:extLst>
          </p:cNvPr>
          <p:cNvSpPr txBox="1"/>
          <p:nvPr/>
        </p:nvSpPr>
        <p:spPr>
          <a:xfrm flipH="1">
            <a:off x="4767167" y="1158263"/>
            <a:ext cx="4669858" cy="2246769"/>
          </a:xfrm>
          <a:prstGeom prst="rect">
            <a:avLst/>
          </a:prstGeom>
          <a:noFill/>
        </p:spPr>
        <p:txBody>
          <a:bodyPr wrap="square" rtlCol="0">
            <a:spAutoFit/>
          </a:bodyPr>
          <a:lstStyle/>
          <a:p>
            <a:r>
              <a:rPr lang="en-GB" sz="1400" dirty="0">
                <a:latin typeface="Arial Rounded MT Bold" panose="020F0704030504030204" pitchFamily="34" charset="0"/>
              </a:rPr>
              <a:t>This chart shows Total Admissions and Average Billing Amount per Doctor.</a:t>
            </a:r>
          </a:p>
          <a:p>
            <a:endParaRPr lang="en-GB" sz="1400" dirty="0">
              <a:latin typeface="Arial Rounded MT Bold" panose="020F0704030504030204" pitchFamily="34" charset="0"/>
            </a:endParaRPr>
          </a:p>
          <a:p>
            <a:r>
              <a:rPr lang="en-GB" sz="1400" dirty="0">
                <a:latin typeface="Arial Rounded MT Bold" panose="020F0704030504030204" pitchFamily="34" charset="0"/>
              </a:rPr>
              <a:t>Top performance include:</a:t>
            </a:r>
          </a:p>
          <a:p>
            <a:r>
              <a:rPr lang="en-GB" sz="1400" dirty="0">
                <a:latin typeface="Arial Rounded MT Bold" panose="020F0704030504030204" pitchFamily="34" charset="0"/>
              </a:rPr>
              <a:t>. Michael Smith - $29.1k billing</a:t>
            </a:r>
          </a:p>
          <a:p>
            <a:r>
              <a:rPr lang="en-GB" sz="1400" dirty="0">
                <a:latin typeface="Arial Rounded MT Bold" panose="020F0704030504030204" pitchFamily="34" charset="0"/>
              </a:rPr>
              <a:t>. Robert Smith -$29.0k</a:t>
            </a:r>
          </a:p>
          <a:p>
            <a:r>
              <a:rPr lang="en-GB" sz="1400" dirty="0">
                <a:latin typeface="Arial Rounded MT Bold" panose="020F0704030504030204" pitchFamily="34" charset="0"/>
              </a:rPr>
              <a:t>. John Smith -$27.7k</a:t>
            </a:r>
          </a:p>
          <a:p>
            <a:r>
              <a:rPr lang="en-GB" sz="1400" dirty="0">
                <a:latin typeface="Arial Rounded MT Bold" panose="020F0704030504030204" pitchFamily="34" charset="0"/>
              </a:rPr>
              <a:t>. David Smith – 27.6k</a:t>
            </a:r>
          </a:p>
          <a:p>
            <a:r>
              <a:rPr lang="en-GB" sz="1400" dirty="0">
                <a:latin typeface="Arial Rounded MT Bold" panose="020F0704030504030204" pitchFamily="34" charset="0"/>
              </a:rPr>
              <a:t>. Matt Smith -$24.8k</a:t>
            </a:r>
          </a:p>
          <a:p>
            <a:endParaRPr lang="en-GB" sz="1400" dirty="0">
              <a:latin typeface="Arial Rounded MT Bold" panose="020F0704030504030204" pitchFamily="34" charset="0"/>
            </a:endParaRPr>
          </a:p>
        </p:txBody>
      </p:sp>
      <p:sp>
        <p:nvSpPr>
          <p:cNvPr id="6" name="TextBox 5">
            <a:extLst>
              <a:ext uri="{FF2B5EF4-FFF2-40B4-BE49-F238E27FC236}">
                <a16:creationId xmlns:a16="http://schemas.microsoft.com/office/drawing/2014/main" id="{E0C27AF8-C7B9-9246-44F4-5062F6F282EA}"/>
              </a:ext>
            </a:extLst>
          </p:cNvPr>
          <p:cNvSpPr txBox="1"/>
          <p:nvPr/>
        </p:nvSpPr>
        <p:spPr>
          <a:xfrm>
            <a:off x="710602" y="3886451"/>
            <a:ext cx="6134099" cy="2246769"/>
          </a:xfrm>
          <a:prstGeom prst="rect">
            <a:avLst/>
          </a:prstGeom>
          <a:noFill/>
        </p:spPr>
        <p:txBody>
          <a:bodyPr wrap="square" rtlCol="0">
            <a:spAutoFit/>
          </a:bodyPr>
          <a:lstStyle/>
          <a:p>
            <a:r>
              <a:rPr lang="en-GB" sz="1400" dirty="0">
                <a:latin typeface="Arial Rounded MT Bold" panose="020F0704030504030204" pitchFamily="34" charset="0"/>
              </a:rPr>
              <a:t>This matrix cross-references medications and medical conditions based on total admissions:</a:t>
            </a:r>
          </a:p>
          <a:p>
            <a:endParaRPr lang="en-GB" sz="1400" dirty="0">
              <a:latin typeface="Arial Rounded MT Bold" panose="020F0704030504030204" pitchFamily="34" charset="0"/>
            </a:endParaRPr>
          </a:p>
          <a:p>
            <a:r>
              <a:rPr lang="en-GB" sz="1400" b="1" dirty="0">
                <a:latin typeface="Arial Rounded MT Bold" panose="020F0704030504030204" pitchFamily="34" charset="0"/>
              </a:rPr>
              <a:t>Total Admissions per medications:</a:t>
            </a:r>
          </a:p>
          <a:p>
            <a:r>
              <a:rPr lang="en-GB" sz="1400" dirty="0">
                <a:latin typeface="Arial Rounded MT Bold" panose="020F0704030504030204" pitchFamily="34" charset="0"/>
              </a:rPr>
              <a:t>Aspirin: 11,038, Ibuprofen: 11,023, Lipitor: 10,965,  Paracetamol: 10,965 and Penicillin: 10,956     </a:t>
            </a:r>
          </a:p>
          <a:p>
            <a:endParaRPr lang="en-GB" sz="1400" dirty="0">
              <a:latin typeface="Arial Rounded MT Bold" panose="020F0704030504030204" pitchFamily="34" charset="0"/>
            </a:endParaRPr>
          </a:p>
          <a:p>
            <a:r>
              <a:rPr lang="en-GB" sz="1400" b="1" dirty="0">
                <a:latin typeface="Arial Rounded MT Bold" panose="020F0704030504030204" pitchFamily="34" charset="0"/>
              </a:rPr>
              <a:t>Medication usage by condition</a:t>
            </a:r>
            <a:r>
              <a:rPr lang="en-US" sz="1400" b="1" dirty="0">
                <a:latin typeface="Arial Rounded MT Bold" panose="020F0704030504030204" pitchFamily="34" charset="0"/>
              </a:rPr>
              <a:t>:</a:t>
            </a:r>
          </a:p>
          <a:p>
            <a:r>
              <a:rPr lang="en-GB" sz="1400" dirty="0">
                <a:latin typeface="Arial Rounded MT Bold" panose="020F0704030504030204" pitchFamily="34" charset="0"/>
              </a:rPr>
              <a:t>Arthritis: Aspirin (1,901), Asthma: Ibuprofen (1,828), Cancer: paracetamol (1,904), Obesity: Penicillin (1,872)etc.</a:t>
            </a:r>
          </a:p>
        </p:txBody>
      </p:sp>
    </p:spTree>
    <p:extLst>
      <p:ext uri="{BB962C8B-B14F-4D97-AF65-F5344CB8AC3E}">
        <p14:creationId xmlns:p14="http://schemas.microsoft.com/office/powerpoint/2010/main" val="2458690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9127E3-539F-C979-015D-E83769C13143}"/>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3" name="Picture 2">
            <a:extLst>
              <a:ext uri="{FF2B5EF4-FFF2-40B4-BE49-F238E27FC236}">
                <a16:creationId xmlns:a16="http://schemas.microsoft.com/office/drawing/2014/main" id="{012CEAAE-B453-CB1C-FA0C-9757A70EA8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483" y="1281279"/>
            <a:ext cx="4368298" cy="4506730"/>
          </a:xfrm>
          <a:prstGeom prst="rect">
            <a:avLst/>
          </a:prstGeom>
        </p:spPr>
      </p:pic>
      <p:sp>
        <p:nvSpPr>
          <p:cNvPr id="2" name="TextBox 1">
            <a:extLst>
              <a:ext uri="{FF2B5EF4-FFF2-40B4-BE49-F238E27FC236}">
                <a16:creationId xmlns:a16="http://schemas.microsoft.com/office/drawing/2014/main" id="{19A9639B-5C66-2BDC-3593-70015BB6721C}"/>
              </a:ext>
            </a:extLst>
          </p:cNvPr>
          <p:cNvSpPr txBox="1"/>
          <p:nvPr/>
        </p:nvSpPr>
        <p:spPr>
          <a:xfrm>
            <a:off x="3313567" y="-270110"/>
            <a:ext cx="7333307" cy="1136786"/>
          </a:xfrm>
          <a:prstGeom prst="rect">
            <a:avLst/>
          </a:prstGeom>
          <a:noFill/>
        </p:spPr>
        <p:txBody>
          <a:bodyPr wrap="square">
            <a:spAutoFit/>
          </a:bodyPr>
          <a:lstStyle/>
          <a:p>
            <a:pPr>
              <a:lnSpc>
                <a:spcPct val="200000"/>
              </a:lnSpc>
            </a:pPr>
            <a:r>
              <a:rPr lang="en-US" sz="4000" dirty="0">
                <a:solidFill>
                  <a:srgbClr val="336666"/>
                </a:solidFill>
                <a:latin typeface="Maiandra GD" panose="020E0502030308020204" pitchFamily="34" charset="0"/>
              </a:rPr>
              <a:t>Analysis and visualization</a:t>
            </a:r>
          </a:p>
        </p:txBody>
      </p:sp>
      <p:sp>
        <p:nvSpPr>
          <p:cNvPr id="4" name="TextBox 3">
            <a:extLst>
              <a:ext uri="{FF2B5EF4-FFF2-40B4-BE49-F238E27FC236}">
                <a16:creationId xmlns:a16="http://schemas.microsoft.com/office/drawing/2014/main" id="{E05605A9-2034-A31B-C931-016FFF025486}"/>
              </a:ext>
            </a:extLst>
          </p:cNvPr>
          <p:cNvSpPr txBox="1"/>
          <p:nvPr/>
        </p:nvSpPr>
        <p:spPr>
          <a:xfrm flipH="1">
            <a:off x="5267891" y="1743832"/>
            <a:ext cx="4232667" cy="738664"/>
          </a:xfrm>
          <a:prstGeom prst="rect">
            <a:avLst/>
          </a:prstGeom>
          <a:noFill/>
        </p:spPr>
        <p:txBody>
          <a:bodyPr wrap="square" rtlCol="0">
            <a:spAutoFit/>
          </a:bodyPr>
          <a:lstStyle/>
          <a:p>
            <a:r>
              <a:rPr lang="en-GB" sz="1400" b="1" dirty="0">
                <a:latin typeface="Arial Rounded MT Bold" panose="020F0704030504030204" pitchFamily="34" charset="0"/>
              </a:rPr>
              <a:t>Total Billing Amount:</a:t>
            </a:r>
            <a:r>
              <a:rPr lang="en-GB" sz="1400" dirty="0">
                <a:latin typeface="Arial Rounded MT Bold" panose="020F0704030504030204" pitchFamily="34" charset="0"/>
              </a:rPr>
              <a:t> $1,404,068,270</a:t>
            </a:r>
          </a:p>
          <a:p>
            <a:endParaRPr lang="en-GB" sz="1400" dirty="0">
              <a:latin typeface="Arial Rounded MT Bold" panose="020F0704030504030204" pitchFamily="34" charset="0"/>
            </a:endParaRPr>
          </a:p>
          <a:p>
            <a:r>
              <a:rPr lang="en-GB" sz="1400" b="1" dirty="0">
                <a:latin typeface="Arial Rounded MT Bold" panose="020F0704030504030204" pitchFamily="34" charset="0"/>
              </a:rPr>
              <a:t>Average Length of Stay: </a:t>
            </a:r>
            <a:r>
              <a:rPr lang="en-GB" sz="1400" dirty="0">
                <a:latin typeface="Arial Rounded MT Bold" panose="020F0704030504030204" pitchFamily="34" charset="0"/>
              </a:rPr>
              <a:t>15.5 days</a:t>
            </a:r>
            <a:endParaRPr lang="en-US" sz="1400" dirty="0">
              <a:latin typeface="Arial Rounded MT Bold" panose="020F0704030504030204" pitchFamily="34" charset="0"/>
            </a:endParaRPr>
          </a:p>
        </p:txBody>
      </p:sp>
      <p:sp>
        <p:nvSpPr>
          <p:cNvPr id="5" name="TextBox 4">
            <a:extLst>
              <a:ext uri="{FF2B5EF4-FFF2-40B4-BE49-F238E27FC236}">
                <a16:creationId xmlns:a16="http://schemas.microsoft.com/office/drawing/2014/main" id="{64D585C4-D099-07E1-5E20-4D500E2BD5DE}"/>
              </a:ext>
            </a:extLst>
          </p:cNvPr>
          <p:cNvSpPr txBox="1"/>
          <p:nvPr/>
        </p:nvSpPr>
        <p:spPr>
          <a:xfrm>
            <a:off x="5267891" y="3838336"/>
            <a:ext cx="5551000" cy="1815882"/>
          </a:xfrm>
          <a:prstGeom prst="rect">
            <a:avLst/>
          </a:prstGeom>
          <a:noFill/>
        </p:spPr>
        <p:txBody>
          <a:bodyPr wrap="square" rtlCol="0">
            <a:spAutoFit/>
          </a:bodyPr>
          <a:lstStyle/>
          <a:p>
            <a:r>
              <a:rPr lang="en-GB" sz="1400" b="1" dirty="0">
                <a:latin typeface="Arial Rounded MT Bold" panose="020F0704030504030204" pitchFamily="34" charset="0"/>
              </a:rPr>
              <a:t>Billing Amount by Length of Stay</a:t>
            </a:r>
            <a:r>
              <a:rPr lang="en-US" sz="1400" b="1" dirty="0">
                <a:latin typeface="Arial Rounded MT Bold" panose="020F0704030504030204" pitchFamily="34" charset="0"/>
              </a:rPr>
              <a:t> (Bottom left Scatter Plot)</a:t>
            </a:r>
          </a:p>
          <a:p>
            <a:endParaRPr lang="en-GB" sz="1400" dirty="0">
              <a:latin typeface="Arial Rounded MT Bold" panose="020F0704030504030204" pitchFamily="34" charset="0"/>
            </a:endParaRPr>
          </a:p>
          <a:p>
            <a:r>
              <a:rPr lang="en-GB" sz="1400" dirty="0">
                <a:latin typeface="Arial Rounded MT Bold" panose="020F0704030504030204" pitchFamily="34" charset="0"/>
              </a:rPr>
              <a:t>This scatter plot maps the </a:t>
            </a:r>
            <a:r>
              <a:rPr lang="en-GB" sz="1400" b="1" dirty="0">
                <a:latin typeface="Arial Rounded MT Bold" panose="020F0704030504030204" pitchFamily="34" charset="0"/>
              </a:rPr>
              <a:t>length of hospital stay (days) </a:t>
            </a:r>
            <a:r>
              <a:rPr lang="en-GB" sz="1400" dirty="0">
                <a:latin typeface="Arial Rounded MT Bold" panose="020F0704030504030204" pitchFamily="34" charset="0"/>
              </a:rPr>
              <a:t>against the </a:t>
            </a:r>
            <a:r>
              <a:rPr lang="en-GB" sz="1400" b="1" dirty="0">
                <a:latin typeface="Arial Rounded MT Bold" panose="020F0704030504030204" pitchFamily="34" charset="0"/>
              </a:rPr>
              <a:t>total billing amount.</a:t>
            </a:r>
          </a:p>
          <a:p>
            <a:endParaRPr lang="en-GB" sz="1400" dirty="0">
              <a:latin typeface="Arial Rounded MT Bold" panose="020F0704030504030204" pitchFamily="34" charset="0"/>
            </a:endParaRPr>
          </a:p>
          <a:p>
            <a:r>
              <a:rPr lang="en-GB" sz="1400" dirty="0">
                <a:latin typeface="Arial Rounded MT Bold" panose="020F0704030504030204" pitchFamily="34" charset="0"/>
              </a:rPr>
              <a:t>Most data points cluster between 3-15 days with billing ranging between $44m to $50m.</a:t>
            </a:r>
          </a:p>
          <a:p>
            <a:endParaRPr lang="en-GB" sz="1400" dirty="0">
              <a:latin typeface="Arial Rounded MT Bold" panose="020F0704030504030204" pitchFamily="34" charset="0"/>
            </a:endParaRPr>
          </a:p>
        </p:txBody>
      </p:sp>
    </p:spTree>
    <p:extLst>
      <p:ext uri="{BB962C8B-B14F-4D97-AF65-F5344CB8AC3E}">
        <p14:creationId xmlns:p14="http://schemas.microsoft.com/office/powerpoint/2010/main" val="762841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AE80916-0F51-D677-3206-1216D04FBF56}"/>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3" name="Picture 2">
            <a:extLst>
              <a:ext uri="{FF2B5EF4-FFF2-40B4-BE49-F238E27FC236}">
                <a16:creationId xmlns:a16="http://schemas.microsoft.com/office/drawing/2014/main" id="{24B2194D-B5E3-0AA2-973A-CC0B473A95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611" y="1136786"/>
            <a:ext cx="4086590" cy="2296842"/>
          </a:xfrm>
          <a:prstGeom prst="rect">
            <a:avLst/>
          </a:prstGeom>
        </p:spPr>
      </p:pic>
      <p:pic>
        <p:nvPicPr>
          <p:cNvPr id="6" name="Picture 5">
            <a:extLst>
              <a:ext uri="{FF2B5EF4-FFF2-40B4-BE49-F238E27FC236}">
                <a16:creationId xmlns:a16="http://schemas.microsoft.com/office/drawing/2014/main" id="{9D46829B-4138-443C-A70F-13AFDF799D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7575" y="3836282"/>
            <a:ext cx="4619986" cy="2250544"/>
          </a:xfrm>
          <a:prstGeom prst="rect">
            <a:avLst/>
          </a:prstGeom>
        </p:spPr>
      </p:pic>
      <p:sp>
        <p:nvSpPr>
          <p:cNvPr id="2" name="TextBox 1">
            <a:extLst>
              <a:ext uri="{FF2B5EF4-FFF2-40B4-BE49-F238E27FC236}">
                <a16:creationId xmlns:a16="http://schemas.microsoft.com/office/drawing/2014/main" id="{8BD6188E-47D2-2F7C-ED47-105A70F4FDEA}"/>
              </a:ext>
            </a:extLst>
          </p:cNvPr>
          <p:cNvSpPr txBox="1"/>
          <p:nvPr/>
        </p:nvSpPr>
        <p:spPr>
          <a:xfrm>
            <a:off x="3313567" y="-270110"/>
            <a:ext cx="7333307" cy="1136786"/>
          </a:xfrm>
          <a:prstGeom prst="rect">
            <a:avLst/>
          </a:prstGeom>
          <a:noFill/>
        </p:spPr>
        <p:txBody>
          <a:bodyPr wrap="square">
            <a:spAutoFit/>
          </a:bodyPr>
          <a:lstStyle/>
          <a:p>
            <a:pPr>
              <a:lnSpc>
                <a:spcPct val="200000"/>
              </a:lnSpc>
            </a:pPr>
            <a:r>
              <a:rPr lang="en-US" sz="4000" dirty="0">
                <a:solidFill>
                  <a:srgbClr val="336666"/>
                </a:solidFill>
                <a:latin typeface="Maiandra GD" panose="020E0502030308020204" pitchFamily="34" charset="0"/>
              </a:rPr>
              <a:t>Analysis and visualization</a:t>
            </a:r>
          </a:p>
        </p:txBody>
      </p:sp>
      <p:sp>
        <p:nvSpPr>
          <p:cNvPr id="4" name="TextBox 3">
            <a:extLst>
              <a:ext uri="{FF2B5EF4-FFF2-40B4-BE49-F238E27FC236}">
                <a16:creationId xmlns:a16="http://schemas.microsoft.com/office/drawing/2014/main" id="{3C876C4D-62E8-A88A-B6E2-756AAAABF875}"/>
              </a:ext>
            </a:extLst>
          </p:cNvPr>
          <p:cNvSpPr txBox="1"/>
          <p:nvPr/>
        </p:nvSpPr>
        <p:spPr>
          <a:xfrm>
            <a:off x="4447812" y="1186704"/>
            <a:ext cx="6401163" cy="1600438"/>
          </a:xfrm>
          <a:prstGeom prst="rect">
            <a:avLst/>
          </a:prstGeom>
          <a:noFill/>
        </p:spPr>
        <p:txBody>
          <a:bodyPr wrap="square" rtlCol="0">
            <a:spAutoFit/>
          </a:bodyPr>
          <a:lstStyle/>
          <a:p>
            <a:r>
              <a:rPr lang="en-GB" sz="1400" dirty="0">
                <a:latin typeface="Arial Rounded MT Bold" panose="020F0704030504030204" pitchFamily="34" charset="0"/>
              </a:rPr>
              <a:t>This bar chart shows how much, on average , is billed per patients under each insurance provider:</a:t>
            </a:r>
          </a:p>
          <a:p>
            <a:r>
              <a:rPr lang="en-GB" sz="1400" dirty="0">
                <a:latin typeface="Arial Rounded MT Bold" panose="020F0704030504030204" pitchFamily="34" charset="0"/>
              </a:rPr>
              <a:t>. </a:t>
            </a:r>
            <a:r>
              <a:rPr lang="en-GB" sz="1400" b="1" dirty="0">
                <a:latin typeface="Arial Rounded MT Bold" panose="020F0704030504030204" pitchFamily="34" charset="0"/>
              </a:rPr>
              <a:t>Medicare: </a:t>
            </a:r>
            <a:r>
              <a:rPr lang="en-GB" sz="1400" dirty="0">
                <a:latin typeface="Arial Rounded MT Bold" panose="020F0704030504030204" pitchFamily="34" charset="0"/>
              </a:rPr>
              <a:t>$25,628</a:t>
            </a:r>
          </a:p>
          <a:p>
            <a:r>
              <a:rPr lang="en-GB" sz="1400" dirty="0">
                <a:latin typeface="Arial Rounded MT Bold" panose="020F0704030504030204" pitchFamily="34" charset="0"/>
              </a:rPr>
              <a:t>. </a:t>
            </a:r>
            <a:r>
              <a:rPr lang="en-GB" sz="1400" b="1" dirty="0">
                <a:latin typeface="Arial Rounded MT Bold" panose="020F0704030504030204" pitchFamily="34" charset="0"/>
              </a:rPr>
              <a:t>Blue Cross: </a:t>
            </a:r>
            <a:r>
              <a:rPr lang="en-GB" sz="1400" dirty="0">
                <a:latin typeface="Arial Rounded MT Bold" panose="020F0704030504030204" pitchFamily="34" charset="0"/>
              </a:rPr>
              <a:t>$25,603</a:t>
            </a:r>
          </a:p>
          <a:p>
            <a:r>
              <a:rPr lang="en-GB" sz="1400" dirty="0">
                <a:latin typeface="Arial Rounded MT Bold" panose="020F0704030504030204" pitchFamily="34" charset="0"/>
              </a:rPr>
              <a:t>. </a:t>
            </a:r>
            <a:r>
              <a:rPr lang="en-GB" sz="1400" b="1" dirty="0">
                <a:latin typeface="Arial Rounded MT Bold" panose="020F0704030504030204" pitchFamily="34" charset="0"/>
              </a:rPr>
              <a:t>Aetna: </a:t>
            </a:r>
            <a:r>
              <a:rPr lang="en-GB" sz="1400" dirty="0">
                <a:latin typeface="Arial Rounded MT Bold" panose="020F0704030504030204" pitchFamily="34" charset="0"/>
              </a:rPr>
              <a:t>$25,550</a:t>
            </a:r>
          </a:p>
          <a:p>
            <a:r>
              <a:rPr lang="en-GB" sz="1400" dirty="0">
                <a:latin typeface="Arial Rounded MT Bold" panose="020F0704030504030204" pitchFamily="34" charset="0"/>
              </a:rPr>
              <a:t>. </a:t>
            </a:r>
            <a:r>
              <a:rPr lang="en-GB" sz="1400" b="1" dirty="0">
                <a:latin typeface="Arial Rounded MT Bold" panose="020F0704030504030204" pitchFamily="34" charset="0"/>
              </a:rPr>
              <a:t>Cigna: </a:t>
            </a:r>
            <a:r>
              <a:rPr lang="en-GB" sz="1400" dirty="0">
                <a:latin typeface="Arial Rounded MT Bold" panose="020F0704030504030204" pitchFamily="34" charset="0"/>
              </a:rPr>
              <a:t>$25</a:t>
            </a:r>
            <a:r>
              <a:rPr lang="en-US" sz="1400" dirty="0">
                <a:latin typeface="Arial Rounded MT Bold" panose="020F0704030504030204" pitchFamily="34" charset="0"/>
              </a:rPr>
              <a:t>,526</a:t>
            </a:r>
          </a:p>
          <a:p>
            <a:r>
              <a:rPr lang="en-GB" sz="1400" dirty="0">
                <a:latin typeface="Arial Rounded MT Bold" panose="020F0704030504030204" pitchFamily="34" charset="0"/>
              </a:rPr>
              <a:t>. </a:t>
            </a:r>
            <a:r>
              <a:rPr lang="en-GB" sz="1400" b="1" dirty="0">
                <a:latin typeface="Arial Rounded MT Bold" panose="020F0704030504030204" pitchFamily="34" charset="0"/>
              </a:rPr>
              <a:t>United Healthcare: </a:t>
            </a:r>
            <a:r>
              <a:rPr lang="en-GB" sz="1400" dirty="0">
                <a:latin typeface="Arial Rounded MT Bold" panose="020F0704030504030204" pitchFamily="34" charset="0"/>
              </a:rPr>
              <a:t>$25,414</a:t>
            </a:r>
          </a:p>
        </p:txBody>
      </p:sp>
      <p:sp>
        <p:nvSpPr>
          <p:cNvPr id="5" name="TextBox 4">
            <a:extLst>
              <a:ext uri="{FF2B5EF4-FFF2-40B4-BE49-F238E27FC236}">
                <a16:creationId xmlns:a16="http://schemas.microsoft.com/office/drawing/2014/main" id="{390E440F-FC7B-9429-FB69-05A7A7436ECC}"/>
              </a:ext>
            </a:extLst>
          </p:cNvPr>
          <p:cNvSpPr txBox="1"/>
          <p:nvPr/>
        </p:nvSpPr>
        <p:spPr>
          <a:xfrm>
            <a:off x="1025516" y="3753656"/>
            <a:ext cx="6099562" cy="2462213"/>
          </a:xfrm>
          <a:prstGeom prst="rect">
            <a:avLst/>
          </a:prstGeom>
          <a:noFill/>
        </p:spPr>
        <p:txBody>
          <a:bodyPr wrap="square" rtlCol="0">
            <a:spAutoFit/>
          </a:bodyPr>
          <a:lstStyle/>
          <a:p>
            <a:r>
              <a:rPr lang="en-GB" sz="1400" b="1" dirty="0">
                <a:latin typeface="Arial Rounded MT Bold" panose="020F0704030504030204" pitchFamily="34" charset="0"/>
              </a:rPr>
              <a:t>The first  Donut Chart shows the Average Billing by Test Result </a:t>
            </a:r>
          </a:p>
          <a:p>
            <a:r>
              <a:rPr lang="en-GB" sz="1400" dirty="0">
                <a:latin typeface="Arial Rounded MT Bold" panose="020F0704030504030204" pitchFamily="34" charset="0"/>
              </a:rPr>
              <a:t>The average billing is fairly even distributed among test result categories: </a:t>
            </a:r>
            <a:r>
              <a:rPr lang="en-GB" sz="1400" b="1" dirty="0">
                <a:latin typeface="Arial Rounded MT Bold" panose="020F0704030504030204" pitchFamily="34" charset="0"/>
              </a:rPr>
              <a:t>Normal: </a:t>
            </a:r>
            <a:r>
              <a:rPr lang="en-GB" sz="1400" dirty="0">
                <a:latin typeface="Arial Rounded MT Bold" panose="020F0704030504030204" pitchFamily="34" charset="0"/>
              </a:rPr>
              <a:t>33.45%, </a:t>
            </a:r>
            <a:r>
              <a:rPr lang="en-GB" sz="1400" b="1" dirty="0">
                <a:latin typeface="Arial Rounded MT Bold" panose="020F0704030504030204" pitchFamily="34" charset="0"/>
              </a:rPr>
              <a:t>Inconclusive: </a:t>
            </a:r>
            <a:r>
              <a:rPr lang="en-GB" sz="1400" dirty="0">
                <a:latin typeface="Arial Rounded MT Bold" panose="020F0704030504030204" pitchFamily="34" charset="0"/>
              </a:rPr>
              <a:t>33.33%, </a:t>
            </a:r>
            <a:r>
              <a:rPr lang="en-GB" sz="1400" b="1" dirty="0">
                <a:latin typeface="Arial Rounded MT Bold" panose="020F0704030504030204" pitchFamily="34" charset="0"/>
              </a:rPr>
              <a:t>Abnormal: </a:t>
            </a:r>
            <a:r>
              <a:rPr lang="en-GB" sz="1400" dirty="0">
                <a:latin typeface="Arial Rounded MT Bold" panose="020F0704030504030204" pitchFamily="34" charset="0"/>
              </a:rPr>
              <a:t>33.21%</a:t>
            </a:r>
          </a:p>
          <a:p>
            <a:endParaRPr lang="en-GB" sz="1400" dirty="0">
              <a:latin typeface="Arial Rounded MT Bold" panose="020F0704030504030204" pitchFamily="34" charset="0"/>
            </a:endParaRPr>
          </a:p>
          <a:p>
            <a:r>
              <a:rPr lang="en-GB" sz="1400" b="1" dirty="0">
                <a:latin typeface="Arial Rounded MT Bold" panose="020F0704030504030204" pitchFamily="34" charset="0"/>
              </a:rPr>
              <a:t>The second multiple donut chart shows the billing Amount by Admission Type </a:t>
            </a:r>
          </a:p>
          <a:p>
            <a:r>
              <a:rPr lang="en-GB" sz="1400" b="1" dirty="0">
                <a:latin typeface="Arial Rounded MT Bold" panose="020F0704030504030204" pitchFamily="34" charset="0"/>
              </a:rPr>
              <a:t>. </a:t>
            </a:r>
            <a:r>
              <a:rPr lang="en-GB" sz="1400" dirty="0">
                <a:latin typeface="Arial Rounded MT Bold" panose="020F0704030504030204" pitchFamily="34" charset="0"/>
              </a:rPr>
              <a:t>This chart shows:</a:t>
            </a:r>
          </a:p>
          <a:p>
            <a:r>
              <a:rPr lang="en-GB" sz="1400" b="1" dirty="0">
                <a:latin typeface="Arial Rounded MT Bold" panose="020F0704030504030204" pitchFamily="34" charset="0"/>
              </a:rPr>
              <a:t>. Elective Admissions: </a:t>
            </a:r>
            <a:r>
              <a:rPr lang="en-GB" sz="1400" dirty="0">
                <a:latin typeface="Arial Rounded MT Bold" panose="020F0704030504030204" pitchFamily="34" charset="0"/>
              </a:rPr>
              <a:t>$25.5k (40.00%), </a:t>
            </a:r>
            <a:r>
              <a:rPr lang="en-GB" sz="1400" b="1" dirty="0">
                <a:latin typeface="Arial Rounded MT Bold" panose="020F0704030504030204" pitchFamily="34" charset="0"/>
              </a:rPr>
              <a:t>Urgent Admissions: </a:t>
            </a:r>
            <a:r>
              <a:rPr lang="en-GB" sz="1400" dirty="0">
                <a:latin typeface="Arial Rounded MT Bold" panose="020F0704030504030204" pitchFamily="34" charset="0"/>
              </a:rPr>
              <a:t>$25.3k (30.67%)</a:t>
            </a:r>
          </a:p>
          <a:p>
            <a:r>
              <a:rPr lang="en-GB" sz="1400" b="1" dirty="0">
                <a:latin typeface="Arial Rounded MT Bold" panose="020F0704030504030204" pitchFamily="34" charset="0"/>
              </a:rPr>
              <a:t>. Emergency Admissions: </a:t>
            </a:r>
            <a:r>
              <a:rPr lang="en-GB" sz="1400" dirty="0">
                <a:latin typeface="Arial Rounded MT Bold" panose="020F0704030504030204" pitchFamily="34" charset="0"/>
              </a:rPr>
              <a:t>$25.1k (29.33%)</a:t>
            </a:r>
            <a:endParaRPr lang="en-US" sz="1400" dirty="0">
              <a:latin typeface="Arial Rounded MT Bold" panose="020F0704030504030204" pitchFamily="34" charset="0"/>
            </a:endParaRPr>
          </a:p>
        </p:txBody>
      </p:sp>
    </p:spTree>
    <p:extLst>
      <p:ext uri="{BB962C8B-B14F-4D97-AF65-F5344CB8AC3E}">
        <p14:creationId xmlns:p14="http://schemas.microsoft.com/office/powerpoint/2010/main" val="1928519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A7D9C8F-AE5B-02DA-CF78-1DD2963E6FE4}"/>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dirty="0"/>
          </a:p>
        </p:txBody>
      </p:sp>
      <p:sp>
        <p:nvSpPr>
          <p:cNvPr id="2" name="TextBox 1">
            <a:extLst>
              <a:ext uri="{FF2B5EF4-FFF2-40B4-BE49-F238E27FC236}">
                <a16:creationId xmlns:a16="http://schemas.microsoft.com/office/drawing/2014/main" id="{AC17C259-9BCC-7D9A-579C-95371D770C7F}"/>
              </a:ext>
            </a:extLst>
          </p:cNvPr>
          <p:cNvSpPr txBox="1"/>
          <p:nvPr/>
        </p:nvSpPr>
        <p:spPr>
          <a:xfrm>
            <a:off x="4004649" y="0"/>
            <a:ext cx="4182702" cy="1136786"/>
          </a:xfrm>
          <a:prstGeom prst="rect">
            <a:avLst/>
          </a:prstGeom>
          <a:noFill/>
        </p:spPr>
        <p:txBody>
          <a:bodyPr wrap="square">
            <a:spAutoFit/>
          </a:bodyPr>
          <a:lstStyle/>
          <a:p>
            <a:pPr>
              <a:lnSpc>
                <a:spcPct val="200000"/>
              </a:lnSpc>
            </a:pPr>
            <a:r>
              <a:rPr lang="en-US" sz="4000" dirty="0">
                <a:solidFill>
                  <a:srgbClr val="336666"/>
                </a:solidFill>
                <a:latin typeface="Maiandra GD" panose="020E0502030308020204" pitchFamily="34" charset="0"/>
              </a:rPr>
              <a:t>Recommendation</a:t>
            </a:r>
          </a:p>
        </p:txBody>
      </p:sp>
      <p:sp>
        <p:nvSpPr>
          <p:cNvPr id="3" name="TextBox 2">
            <a:extLst>
              <a:ext uri="{FF2B5EF4-FFF2-40B4-BE49-F238E27FC236}">
                <a16:creationId xmlns:a16="http://schemas.microsoft.com/office/drawing/2014/main" id="{6D3C45C2-41BF-6C5E-B440-A42A8B59053B}"/>
              </a:ext>
            </a:extLst>
          </p:cNvPr>
          <p:cNvSpPr txBox="1"/>
          <p:nvPr/>
        </p:nvSpPr>
        <p:spPr>
          <a:xfrm>
            <a:off x="447675" y="1250595"/>
            <a:ext cx="11296650" cy="5047536"/>
          </a:xfrm>
          <a:prstGeom prst="rect">
            <a:avLst/>
          </a:prstGeom>
          <a:noFill/>
        </p:spPr>
        <p:txBody>
          <a:bodyPr wrap="square" rtlCol="0">
            <a:spAutoFit/>
          </a:bodyPr>
          <a:lstStyle/>
          <a:p>
            <a:r>
              <a:rPr lang="en-US" sz="1400" dirty="0">
                <a:latin typeface="Arial Rounded MT Bold" panose="020F0704030504030204" pitchFamily="34" charset="0"/>
              </a:rPr>
              <a:t>1. Improve Care for Elderly Patients: The “Old” age group accounts for the highest number of admissions (24.32K). Train staff in elderly care to handle complex, multiple conditions and include home-based care options.</a:t>
            </a:r>
          </a:p>
          <a:p>
            <a:endParaRPr lang="en-US" sz="1400" dirty="0">
              <a:latin typeface="Arial Rounded MT Bold" panose="020F0704030504030204" pitchFamily="34" charset="0"/>
            </a:endParaRPr>
          </a:p>
          <a:p>
            <a:r>
              <a:rPr lang="en-US" sz="1400" dirty="0">
                <a:latin typeface="Arial Rounded MT Bold" panose="020F0704030504030204" pitchFamily="34" charset="0"/>
              </a:rPr>
              <a:t>2. Chronic Disease Prevention Programs through Launching awareness campaigns, free screenings, and lifestyle interventions. This is to reduce the number of chronic diseases among individuals.</a:t>
            </a:r>
          </a:p>
          <a:p>
            <a:endParaRPr lang="en-US" sz="1400" dirty="0">
              <a:latin typeface="Arial Rounded MT Bold" panose="020F0704030504030204" pitchFamily="34" charset="0"/>
            </a:endParaRPr>
          </a:p>
          <a:p>
            <a:r>
              <a:rPr lang="en-US" sz="1400" dirty="0">
                <a:latin typeface="Arial Rounded MT Bold" panose="020F0704030504030204" pitchFamily="34" charset="0"/>
              </a:rPr>
              <a:t>3. Maintain fair and consistent billing practices as Elective admissions have the highest average billing ($25.5K), compared to urgent ($25.3K) and emergency ($25.1K).</a:t>
            </a:r>
          </a:p>
          <a:p>
            <a:endParaRPr lang="en-US" sz="1400" dirty="0">
              <a:latin typeface="Arial Rounded MT Bold" panose="020F0704030504030204" pitchFamily="34" charset="0"/>
            </a:endParaRPr>
          </a:p>
          <a:p>
            <a:r>
              <a:rPr lang="en-US" sz="1400" dirty="0">
                <a:latin typeface="Arial Rounded MT Bold" panose="020F0704030504030204" pitchFamily="34" charset="0"/>
              </a:rPr>
              <a:t>4. Address Seasonal Peaks in Admission and Stay by Increase staffing and resource allocation during high-demand months. Monitor seasonal illness trends for early preparedness to prevent overcrowding and maintain service quality year-round.</a:t>
            </a:r>
          </a:p>
          <a:p>
            <a:endParaRPr lang="en-US" sz="1400" dirty="0">
              <a:latin typeface="Arial Rounded MT Bold" panose="020F070403050403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sz="1400" dirty="0">
                <a:latin typeface="Arial Rounded MT Bold" panose="020F0704030504030204" pitchFamily="34" charset="0"/>
              </a:rPr>
              <a:t>5. The male has the highest number regrading insurance, </a:t>
            </a:r>
            <a:r>
              <a:rPr kumimoji="0" lang="en-NG" altLang="en-NG" sz="1400" b="0" i="0" u="none" strike="noStrike" cap="none" normalizeH="0" baseline="0" dirty="0">
                <a:ln>
                  <a:noFill/>
                </a:ln>
                <a:solidFill>
                  <a:schemeClr val="tx1"/>
                </a:solidFill>
                <a:effectLst/>
                <a:latin typeface="Arial Rounded MT Bold" panose="020F0704030504030204" pitchFamily="34" charset="0"/>
              </a:rPr>
              <a:t>Offer gender-sensitive care pathways (e.g., maternity, men’s health).</a:t>
            </a:r>
            <a:endParaRPr kumimoji="0" lang="en-NG" altLang="en-NG" sz="1400" b="0" i="0" u="none" strike="noStrike" cap="none" normalizeH="0" baseline="0" dirty="0">
              <a:ln>
                <a:noFill/>
              </a:ln>
              <a:solidFill>
                <a:schemeClr val="tx1"/>
              </a:solidFill>
              <a:effectLst/>
              <a:latin typeface="Arial" panose="020B0604020202020204" pitchFamily="34" charset="0"/>
            </a:endParaRPr>
          </a:p>
          <a:p>
            <a:r>
              <a:rPr lang="en-US" sz="1400" dirty="0">
                <a:latin typeface="Arial Rounded MT Bold" panose="020F0704030504030204" pitchFamily="34" charset="0"/>
              </a:rPr>
              <a:t> Launching awareness campaigns on how they can take good care of there health to reduce the rate at which they fall sick.</a:t>
            </a:r>
          </a:p>
          <a:p>
            <a:endParaRPr lang="en-US" sz="1400" dirty="0">
              <a:latin typeface="Arial Rounded MT Bold" panose="020F0704030504030204" pitchFamily="34" charset="0"/>
            </a:endParaRPr>
          </a:p>
          <a:p>
            <a:r>
              <a:rPr lang="en-US" sz="1400" dirty="0">
                <a:latin typeface="Arial Rounded MT Bold" panose="020F0704030504030204" pitchFamily="34" charset="0"/>
              </a:rPr>
              <a:t>6. Ensure efficient drug supply management and cost-effectiveness. </a:t>
            </a:r>
            <a:r>
              <a:rPr kumimoji="0" lang="en-NG" altLang="en-NG" sz="1400" b="0" i="0" u="none" strike="noStrike" cap="none" normalizeH="0" baseline="0" dirty="0">
                <a:ln>
                  <a:noFill/>
                </a:ln>
                <a:solidFill>
                  <a:schemeClr val="tx1"/>
                </a:solidFill>
                <a:effectLst/>
                <a:latin typeface="Arial Rounded MT Bold" panose="020F0704030504030204" pitchFamily="34" charset="0"/>
              </a:rPr>
              <a:t>Drugs like Aspirin, Ibuprofen, Paracetamol, and Penicillin are heavily used across multiple conditions.</a:t>
            </a:r>
            <a:r>
              <a:rPr kumimoji="0" lang="en-US" altLang="en-NG" sz="1400" b="0" i="0" u="none" strike="noStrike" cap="none" normalizeH="0" baseline="0" dirty="0">
                <a:ln>
                  <a:noFill/>
                </a:ln>
                <a:solidFill>
                  <a:schemeClr val="tx1"/>
                </a:solidFill>
                <a:effectLst/>
                <a:latin typeface="Arial Rounded MT Bold" panose="020F0704030504030204" pitchFamily="34" charset="0"/>
              </a:rPr>
              <a:t> </a:t>
            </a:r>
            <a:r>
              <a:rPr kumimoji="0" lang="en-NG" altLang="en-NG" sz="1400" b="0" i="0" u="none" strike="noStrike" cap="none" normalizeH="0" baseline="0" dirty="0">
                <a:ln>
                  <a:noFill/>
                </a:ln>
                <a:solidFill>
                  <a:schemeClr val="tx1"/>
                </a:solidFill>
                <a:effectLst/>
                <a:latin typeface="Arial Rounded MT Bold" panose="020F0704030504030204" pitchFamily="34" charset="0"/>
              </a:rPr>
              <a:t>Monitor prescription trends to avoid overuse or resistance.</a:t>
            </a:r>
            <a:r>
              <a:rPr kumimoji="0" lang="en-US" altLang="en-NG" sz="1400" b="0" i="0" u="none" strike="noStrike" cap="none" normalizeH="0" baseline="0" dirty="0">
                <a:ln>
                  <a:noFill/>
                </a:ln>
                <a:solidFill>
                  <a:schemeClr val="tx1"/>
                </a:solidFill>
                <a:effectLst/>
                <a:latin typeface="Arial Rounded MT Bold" panose="020F0704030504030204" pitchFamily="34" charset="0"/>
              </a:rPr>
              <a:t> </a:t>
            </a:r>
            <a:r>
              <a:rPr kumimoji="0" lang="en-NG" altLang="en-NG" sz="1400" b="0" i="0" u="none" strike="noStrike" cap="none" normalizeH="0" baseline="0" dirty="0">
                <a:ln>
                  <a:noFill/>
                </a:ln>
                <a:solidFill>
                  <a:schemeClr val="tx1"/>
                </a:solidFill>
                <a:effectLst/>
                <a:latin typeface="Arial Rounded MT Bold" panose="020F0704030504030204" pitchFamily="34" charset="0"/>
              </a:rPr>
              <a:t>Use analytics to inform procurement and inventory.</a:t>
            </a:r>
          </a:p>
          <a:p>
            <a:endParaRPr lang="en-US" sz="1400" dirty="0">
              <a:latin typeface="Arial Rounded MT Bold" panose="020F0704030504030204" pitchFamily="34" charset="0"/>
            </a:endParaRPr>
          </a:p>
          <a:p>
            <a:pPr lvl="1"/>
            <a:endParaRPr lang="en-US" sz="1400" dirty="0">
              <a:latin typeface="Arial Rounded MT Bold" panose="020F0704030504030204" pitchFamily="34" charset="0"/>
            </a:endParaRPr>
          </a:p>
          <a:p>
            <a:endParaRPr lang="en-US" sz="1400" dirty="0">
              <a:latin typeface="Arial Rounded MT Bold" panose="020F0704030504030204" pitchFamily="34" charset="0"/>
            </a:endParaRPr>
          </a:p>
          <a:p>
            <a:endParaRPr lang="en-US" sz="1400" dirty="0">
              <a:latin typeface="Arial Rounded MT Bold" panose="020F0704030504030204" pitchFamily="34" charset="0"/>
            </a:endParaRPr>
          </a:p>
          <a:p>
            <a:endParaRPr lang="en-NG" sz="1400" dirty="0">
              <a:latin typeface="Arial Rounded MT Bold" panose="020F0704030504030204" pitchFamily="34" charset="0"/>
            </a:endParaRPr>
          </a:p>
        </p:txBody>
      </p:sp>
    </p:spTree>
    <p:extLst>
      <p:ext uri="{BB962C8B-B14F-4D97-AF65-F5344CB8AC3E}">
        <p14:creationId xmlns:p14="http://schemas.microsoft.com/office/powerpoint/2010/main" val="1841949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C19C29-DE3E-0A3F-00A2-DF7A26CCEF99}"/>
              </a:ext>
            </a:extLst>
          </p:cNvPr>
          <p:cNvSpPr/>
          <p:nvPr/>
        </p:nvSpPr>
        <p:spPr>
          <a:xfrm>
            <a:off x="0" y="0"/>
            <a:ext cx="12192000" cy="6298131"/>
          </a:xfrm>
          <a:prstGeom prst="rect">
            <a:avLst/>
          </a:prstGeom>
          <a:solidFill>
            <a:srgbClr val="B1E4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itle 1">
            <a:extLst>
              <a:ext uri="{FF2B5EF4-FFF2-40B4-BE49-F238E27FC236}">
                <a16:creationId xmlns:a16="http://schemas.microsoft.com/office/drawing/2014/main" id="{B47143D6-8129-1A27-D7CC-54B8D0132684}"/>
              </a:ext>
            </a:extLst>
          </p:cNvPr>
          <p:cNvSpPr>
            <a:spLocks noGrp="1"/>
          </p:cNvSpPr>
          <p:nvPr>
            <p:ph type="title"/>
          </p:nvPr>
        </p:nvSpPr>
        <p:spPr>
          <a:xfrm>
            <a:off x="2486025" y="2103437"/>
            <a:ext cx="10515600" cy="1325563"/>
          </a:xfrm>
        </p:spPr>
        <p:txBody>
          <a:bodyPr>
            <a:noAutofit/>
          </a:bodyPr>
          <a:lstStyle/>
          <a:p>
            <a:r>
              <a:rPr lang="en-US" sz="8000" b="1" dirty="0">
                <a:latin typeface="Maiandra GD" panose="020E0502030308020204" pitchFamily="34" charset="0"/>
              </a:rPr>
              <a:t>THANK </a:t>
            </a:r>
            <a:r>
              <a:rPr lang="en-US" sz="8000" b="1" dirty="0">
                <a:solidFill>
                  <a:srgbClr val="336666"/>
                </a:solidFill>
                <a:latin typeface="Maiandra GD" panose="020E0502030308020204" pitchFamily="34" charset="0"/>
              </a:rPr>
              <a:t>YOU</a:t>
            </a:r>
            <a:endParaRPr lang="en-NG" sz="8000" b="1" dirty="0">
              <a:solidFill>
                <a:srgbClr val="336666"/>
              </a:solidFill>
              <a:latin typeface="Maiandra GD" panose="020E0502030308020204" pitchFamily="34" charset="0"/>
            </a:endParaRPr>
          </a:p>
        </p:txBody>
      </p:sp>
    </p:spTree>
    <p:extLst>
      <p:ext uri="{BB962C8B-B14F-4D97-AF65-F5344CB8AC3E}">
        <p14:creationId xmlns:p14="http://schemas.microsoft.com/office/powerpoint/2010/main" val="6576047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1538</TotalTime>
  <Words>1651</Words>
  <Application>Microsoft Office PowerPoint</Application>
  <PresentationFormat>Widescreen</PresentationFormat>
  <Paragraphs>189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Rounded MT Bold</vt:lpstr>
      <vt:lpstr>Calibri</vt:lpstr>
      <vt:lpstr>Calibri Light</vt:lpstr>
      <vt:lpstr>Maiandra GD</vt:lpstr>
      <vt:lpstr>Office Theme</vt:lpstr>
      <vt:lpstr>HEALTHCARE DATA ANALYSIS</vt:lpstr>
      <vt:lpstr>Table of Content</vt:lpstr>
      <vt:lpstr>Introduction</vt:lpstr>
      <vt:lpstr>Objective To identify how demographic, medical, and operational factors such as age, gender, blood type, medical conditions, admission types, and insurance coverage, affect patient care, treatment outcomes, and hospital costs in order to support better decision-making in the healthcare system.</vt:lpstr>
      <vt:lpstr>Data transformation &amp; cleaning </vt:lpstr>
      <vt:lpstr>Data Modelling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onyinye oguejiofor</dc:creator>
  <cp:lastModifiedBy>onyinye oguejiofor</cp:lastModifiedBy>
  <cp:revision>19</cp:revision>
  <dcterms:created xsi:type="dcterms:W3CDTF">2025-07-14T21:19:30Z</dcterms:created>
  <dcterms:modified xsi:type="dcterms:W3CDTF">2025-08-03T23:32:45Z</dcterms:modified>
</cp:coreProperties>
</file>